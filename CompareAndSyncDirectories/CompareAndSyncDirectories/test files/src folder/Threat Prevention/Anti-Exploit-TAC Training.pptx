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23"/>
  </p:notesMasterIdLst>
  <p:handoutMasterIdLst>
    <p:handoutMasterId r:id="rId24"/>
  </p:handoutMasterIdLst>
  <p:sldIdLst>
    <p:sldId id="768" r:id="rId2"/>
    <p:sldId id="752" r:id="rId3"/>
    <p:sldId id="796" r:id="rId4"/>
    <p:sldId id="756" r:id="rId5"/>
    <p:sldId id="771" r:id="rId6"/>
    <p:sldId id="769" r:id="rId7"/>
    <p:sldId id="770" r:id="rId8"/>
    <p:sldId id="772" r:id="rId9"/>
    <p:sldId id="804" r:id="rId10"/>
    <p:sldId id="803" r:id="rId11"/>
    <p:sldId id="788" r:id="rId12"/>
    <p:sldId id="790" r:id="rId13"/>
    <p:sldId id="791" r:id="rId14"/>
    <p:sldId id="797" r:id="rId15"/>
    <p:sldId id="793" r:id="rId16"/>
    <p:sldId id="801" r:id="rId17"/>
    <p:sldId id="802" r:id="rId18"/>
    <p:sldId id="798" r:id="rId19"/>
    <p:sldId id="799" r:id="rId20"/>
    <p:sldId id="765" r:id="rId21"/>
    <p:sldId id="795" r:id="rId22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449">
          <p15:clr>
            <a:srgbClr val="A4A3A4"/>
          </p15:clr>
        </p15:guide>
        <p15:guide id="2" orient="horz" pos="4270">
          <p15:clr>
            <a:srgbClr val="A4A3A4"/>
          </p15:clr>
        </p15:guide>
        <p15:guide id="3" orient="horz" pos="3379">
          <p15:clr>
            <a:srgbClr val="A4A3A4"/>
          </p15:clr>
        </p15:guide>
        <p15:guide id="4" orient="horz" pos="536">
          <p15:clr>
            <a:srgbClr val="A4A3A4"/>
          </p15:clr>
        </p15:guide>
        <p15:guide id="5" orient="horz" pos="2476">
          <p15:clr>
            <a:srgbClr val="A4A3A4"/>
          </p15:clr>
        </p15:guide>
        <p15:guide id="6" orient="horz" pos="4202">
          <p15:clr>
            <a:srgbClr val="A4A3A4"/>
          </p15:clr>
        </p15:guide>
        <p15:guide id="7" pos="369">
          <p15:clr>
            <a:srgbClr val="A4A3A4"/>
          </p15:clr>
        </p15:guide>
        <p15:guide id="8" pos="2367">
          <p15:clr>
            <a:srgbClr val="A4A3A4"/>
          </p15:clr>
        </p15:guide>
        <p15:guide id="9" pos="3388">
          <p15:clr>
            <a:srgbClr val="A4A3A4"/>
          </p15:clr>
        </p15:guide>
        <p15:guide id="10" orient="horz" pos="136">
          <p15:clr>
            <a:srgbClr val="A4A3A4"/>
          </p15:clr>
        </p15:guide>
        <p15:guide id="11" orient="horz" pos="620">
          <p15:clr>
            <a:srgbClr val="A4A3A4"/>
          </p15:clr>
        </p15:guide>
        <p15:guide id="12" orient="horz" pos="397">
          <p15:clr>
            <a:srgbClr val="A4A3A4"/>
          </p15:clr>
        </p15:guide>
        <p15:guide id="13" pos="5174">
          <p15:clr>
            <a:srgbClr val="A4A3A4"/>
          </p15:clr>
        </p15:guide>
        <p15:guide id="14" pos="3860">
          <p15:clr>
            <a:srgbClr val="A4A3A4"/>
          </p15:clr>
        </p15:guide>
        <p15:guide id="15" pos="6919">
          <p15:clr>
            <a:srgbClr val="A4A3A4"/>
          </p15:clr>
        </p15:guide>
        <p15:guide id="16" pos="72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5785"/>
    <a:srgbClr val="FBFBFB"/>
    <a:srgbClr val="FDFDFD"/>
    <a:srgbClr val="F7F7F7"/>
    <a:srgbClr val="7F7F7F"/>
    <a:srgbClr val="595959"/>
    <a:srgbClr val="6A6A6A"/>
    <a:srgbClr val="F1AEBD"/>
    <a:srgbClr val="4E4E4E"/>
    <a:srgbClr val="4D4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9" autoAdjust="0"/>
    <p:restoredTop sz="96277" autoAdjust="0"/>
  </p:normalViewPr>
  <p:slideViewPr>
    <p:cSldViewPr snapToGrid="0" snapToObjects="1">
      <p:cViewPr varScale="1">
        <p:scale>
          <a:sx n="111" d="100"/>
          <a:sy n="111" d="100"/>
        </p:scale>
        <p:origin x="-702" y="-90"/>
      </p:cViewPr>
      <p:guideLst>
        <p:guide orient="horz" pos="1449"/>
        <p:guide orient="horz" pos="4270"/>
        <p:guide orient="horz" pos="3379"/>
        <p:guide orient="horz" pos="536"/>
        <p:guide orient="horz" pos="2476"/>
        <p:guide orient="horz" pos="4202"/>
        <p:guide orient="horz" pos="136"/>
        <p:guide orient="horz" pos="620"/>
        <p:guide orient="horz" pos="397"/>
        <p:guide pos="369"/>
        <p:guide pos="2367"/>
        <p:guide pos="3388"/>
        <p:guide pos="5174"/>
        <p:guide pos="3860"/>
        <p:guide pos="6919"/>
        <p:guide pos="7215"/>
      </p:guideLst>
    </p:cSldViewPr>
  </p:slideViewPr>
  <p:outlineViewPr>
    <p:cViewPr>
      <p:scale>
        <a:sx n="33" d="100"/>
        <a:sy n="33" d="100"/>
      </p:scale>
      <p:origin x="0" y="-91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notesViewPr>
    <p:cSldViewPr snapToGrid="0" snapToObjects="1" showGuides="1">
      <p:cViewPr varScale="1">
        <p:scale>
          <a:sx n="79" d="100"/>
          <a:sy n="79" d="100"/>
        </p:scale>
        <p:origin x="-2904" y="-67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12/5/2017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E9B47-791B-47F7-AE03-C0D580CA0B6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00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E9B47-791B-47F7-AE03-C0D580CA0B6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853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5"/>
            <a:ext cx="12188825" cy="6857928"/>
          </a:xfrm>
          <a:prstGeom prst="rect">
            <a:avLst/>
          </a:prstGeom>
        </p:spPr>
      </p:pic>
      <p:grpSp>
        <p:nvGrpSpPr>
          <p:cNvPr id="125" name="Group 124"/>
          <p:cNvGrpSpPr/>
          <p:nvPr userDrawn="1"/>
        </p:nvGrpSpPr>
        <p:grpSpPr>
          <a:xfrm>
            <a:off x="9145588" y="5899150"/>
            <a:ext cx="407988" cy="53975"/>
            <a:chOff x="9145588" y="5975350"/>
            <a:chExt cx="407988" cy="53975"/>
          </a:xfrm>
        </p:grpSpPr>
        <p:sp>
          <p:nvSpPr>
            <p:cNvPr id="126" name="Freeform 41"/>
            <p:cNvSpPr>
              <a:spLocks noEditPoints="1"/>
            </p:cNvSpPr>
            <p:nvPr userDrawn="1"/>
          </p:nvSpPr>
          <p:spPr bwMode="auto">
            <a:xfrm>
              <a:off x="9145588" y="5975350"/>
              <a:ext cx="26988" cy="52388"/>
            </a:xfrm>
            <a:custGeom>
              <a:avLst/>
              <a:gdLst>
                <a:gd name="T0" fmla="*/ 40 w 81"/>
                <a:gd name="T1" fmla="*/ 97 h 160"/>
                <a:gd name="T2" fmla="*/ 25 w 81"/>
                <a:gd name="T3" fmla="*/ 97 h 160"/>
                <a:gd name="T4" fmla="*/ 25 w 81"/>
                <a:gd name="T5" fmla="*/ 160 h 160"/>
                <a:gd name="T6" fmla="*/ 0 w 81"/>
                <a:gd name="T7" fmla="*/ 160 h 160"/>
                <a:gd name="T8" fmla="*/ 0 w 81"/>
                <a:gd name="T9" fmla="*/ 0 h 160"/>
                <a:gd name="T10" fmla="*/ 40 w 81"/>
                <a:gd name="T11" fmla="*/ 0 h 160"/>
                <a:gd name="T12" fmla="*/ 81 w 81"/>
                <a:gd name="T13" fmla="*/ 49 h 160"/>
                <a:gd name="T14" fmla="*/ 40 w 81"/>
                <a:gd name="T15" fmla="*/ 97 h 160"/>
                <a:gd name="T16" fmla="*/ 39 w 81"/>
                <a:gd name="T17" fmla="*/ 23 h 160"/>
                <a:gd name="T18" fmla="*/ 25 w 81"/>
                <a:gd name="T19" fmla="*/ 23 h 160"/>
                <a:gd name="T20" fmla="*/ 25 w 81"/>
                <a:gd name="T21" fmla="*/ 75 h 160"/>
                <a:gd name="T22" fmla="*/ 39 w 81"/>
                <a:gd name="T23" fmla="*/ 75 h 160"/>
                <a:gd name="T24" fmla="*/ 56 w 81"/>
                <a:gd name="T25" fmla="*/ 49 h 160"/>
                <a:gd name="T26" fmla="*/ 39 w 81"/>
                <a:gd name="T27" fmla="*/ 23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160">
                  <a:moveTo>
                    <a:pt x="40" y="97"/>
                  </a:moveTo>
                  <a:cubicBezTo>
                    <a:pt x="25" y="97"/>
                    <a:pt x="25" y="97"/>
                    <a:pt x="25" y="97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69" y="0"/>
                    <a:pt x="81" y="16"/>
                    <a:pt x="81" y="49"/>
                  </a:cubicBezTo>
                  <a:cubicBezTo>
                    <a:pt x="81" y="82"/>
                    <a:pt x="69" y="97"/>
                    <a:pt x="40" y="97"/>
                  </a:cubicBezTo>
                  <a:close/>
                  <a:moveTo>
                    <a:pt x="39" y="23"/>
                  </a:moveTo>
                  <a:cubicBezTo>
                    <a:pt x="25" y="23"/>
                    <a:pt x="25" y="23"/>
                    <a:pt x="25" y="23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52" y="75"/>
                    <a:pt x="56" y="65"/>
                    <a:pt x="56" y="49"/>
                  </a:cubicBezTo>
                  <a:cubicBezTo>
                    <a:pt x="56" y="33"/>
                    <a:pt x="52" y="23"/>
                    <a:pt x="39" y="23"/>
                  </a:cubicBez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42"/>
            <p:cNvSpPr>
              <a:spLocks noEditPoints="1"/>
            </p:cNvSpPr>
            <p:nvPr userDrawn="1"/>
          </p:nvSpPr>
          <p:spPr bwMode="auto">
            <a:xfrm>
              <a:off x="9188451" y="5975350"/>
              <a:ext cx="26988" cy="53975"/>
            </a:xfrm>
            <a:custGeom>
              <a:avLst/>
              <a:gdLst>
                <a:gd name="T0" fmla="*/ 74 w 85"/>
                <a:gd name="T1" fmla="*/ 149 h 163"/>
                <a:gd name="T2" fmla="*/ 43 w 85"/>
                <a:gd name="T3" fmla="*/ 163 h 163"/>
                <a:gd name="T4" fmla="*/ 12 w 85"/>
                <a:gd name="T5" fmla="*/ 149 h 163"/>
                <a:gd name="T6" fmla="*/ 0 w 85"/>
                <a:gd name="T7" fmla="*/ 81 h 163"/>
                <a:gd name="T8" fmla="*/ 12 w 85"/>
                <a:gd name="T9" fmla="*/ 13 h 163"/>
                <a:gd name="T10" fmla="*/ 43 w 85"/>
                <a:gd name="T11" fmla="*/ 0 h 163"/>
                <a:gd name="T12" fmla="*/ 74 w 85"/>
                <a:gd name="T13" fmla="*/ 13 h 163"/>
                <a:gd name="T14" fmla="*/ 85 w 85"/>
                <a:gd name="T15" fmla="*/ 81 h 163"/>
                <a:gd name="T16" fmla="*/ 74 w 85"/>
                <a:gd name="T17" fmla="*/ 149 h 163"/>
                <a:gd name="T18" fmla="*/ 55 w 85"/>
                <a:gd name="T19" fmla="*/ 28 h 163"/>
                <a:gd name="T20" fmla="*/ 43 w 85"/>
                <a:gd name="T21" fmla="*/ 22 h 163"/>
                <a:gd name="T22" fmla="*/ 31 w 85"/>
                <a:gd name="T23" fmla="*/ 28 h 163"/>
                <a:gd name="T24" fmla="*/ 25 w 85"/>
                <a:gd name="T25" fmla="*/ 81 h 163"/>
                <a:gd name="T26" fmla="*/ 31 w 85"/>
                <a:gd name="T27" fmla="*/ 134 h 163"/>
                <a:gd name="T28" fmla="*/ 43 w 85"/>
                <a:gd name="T29" fmla="*/ 140 h 163"/>
                <a:gd name="T30" fmla="*/ 55 w 85"/>
                <a:gd name="T31" fmla="*/ 134 h 163"/>
                <a:gd name="T32" fmla="*/ 60 w 85"/>
                <a:gd name="T33" fmla="*/ 81 h 163"/>
                <a:gd name="T34" fmla="*/ 55 w 85"/>
                <a:gd name="T35" fmla="*/ 2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5" h="163">
                  <a:moveTo>
                    <a:pt x="74" y="149"/>
                  </a:moveTo>
                  <a:cubicBezTo>
                    <a:pt x="67" y="157"/>
                    <a:pt x="58" y="163"/>
                    <a:pt x="43" y="163"/>
                  </a:cubicBezTo>
                  <a:cubicBezTo>
                    <a:pt x="28" y="163"/>
                    <a:pt x="18" y="157"/>
                    <a:pt x="12" y="149"/>
                  </a:cubicBezTo>
                  <a:cubicBezTo>
                    <a:pt x="1" y="136"/>
                    <a:pt x="0" y="119"/>
                    <a:pt x="0" y="81"/>
                  </a:cubicBezTo>
                  <a:cubicBezTo>
                    <a:pt x="0" y="43"/>
                    <a:pt x="1" y="26"/>
                    <a:pt x="12" y="13"/>
                  </a:cubicBezTo>
                  <a:cubicBezTo>
                    <a:pt x="18" y="5"/>
                    <a:pt x="28" y="0"/>
                    <a:pt x="43" y="0"/>
                  </a:cubicBezTo>
                  <a:cubicBezTo>
                    <a:pt x="58" y="0"/>
                    <a:pt x="67" y="5"/>
                    <a:pt x="74" y="13"/>
                  </a:cubicBezTo>
                  <a:cubicBezTo>
                    <a:pt x="84" y="26"/>
                    <a:pt x="85" y="43"/>
                    <a:pt x="85" y="81"/>
                  </a:cubicBezTo>
                  <a:cubicBezTo>
                    <a:pt x="85" y="119"/>
                    <a:pt x="84" y="137"/>
                    <a:pt x="74" y="149"/>
                  </a:cubicBezTo>
                  <a:close/>
                  <a:moveTo>
                    <a:pt x="55" y="28"/>
                  </a:moveTo>
                  <a:cubicBezTo>
                    <a:pt x="53" y="25"/>
                    <a:pt x="49" y="22"/>
                    <a:pt x="43" y="22"/>
                  </a:cubicBezTo>
                  <a:cubicBezTo>
                    <a:pt x="37" y="22"/>
                    <a:pt x="33" y="25"/>
                    <a:pt x="31" y="28"/>
                  </a:cubicBezTo>
                  <a:cubicBezTo>
                    <a:pt x="26" y="36"/>
                    <a:pt x="25" y="52"/>
                    <a:pt x="25" y="81"/>
                  </a:cubicBezTo>
                  <a:cubicBezTo>
                    <a:pt x="25" y="110"/>
                    <a:pt x="26" y="126"/>
                    <a:pt x="31" y="134"/>
                  </a:cubicBezTo>
                  <a:cubicBezTo>
                    <a:pt x="33" y="138"/>
                    <a:pt x="37" y="140"/>
                    <a:pt x="43" y="140"/>
                  </a:cubicBezTo>
                  <a:cubicBezTo>
                    <a:pt x="49" y="140"/>
                    <a:pt x="53" y="138"/>
                    <a:pt x="55" y="134"/>
                  </a:cubicBezTo>
                  <a:cubicBezTo>
                    <a:pt x="60" y="126"/>
                    <a:pt x="60" y="110"/>
                    <a:pt x="60" y="81"/>
                  </a:cubicBezTo>
                  <a:cubicBezTo>
                    <a:pt x="60" y="52"/>
                    <a:pt x="60" y="36"/>
                    <a:pt x="55" y="28"/>
                  </a:cubicBez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43"/>
            <p:cNvSpPr>
              <a:spLocks/>
            </p:cNvSpPr>
            <p:nvPr userDrawn="1"/>
          </p:nvSpPr>
          <p:spPr bwMode="auto">
            <a:xfrm>
              <a:off x="9228138" y="5975350"/>
              <a:ext cx="52388" cy="52388"/>
            </a:xfrm>
            <a:custGeom>
              <a:avLst/>
              <a:gdLst>
                <a:gd name="T0" fmla="*/ 27 w 33"/>
                <a:gd name="T1" fmla="*/ 33 h 33"/>
                <a:gd name="T2" fmla="*/ 21 w 33"/>
                <a:gd name="T3" fmla="*/ 33 h 33"/>
                <a:gd name="T4" fmla="*/ 17 w 33"/>
                <a:gd name="T5" fmla="*/ 8 h 33"/>
                <a:gd name="T6" fmla="*/ 12 w 33"/>
                <a:gd name="T7" fmla="*/ 33 h 33"/>
                <a:gd name="T8" fmla="*/ 7 w 33"/>
                <a:gd name="T9" fmla="*/ 33 h 33"/>
                <a:gd name="T10" fmla="*/ 0 w 33"/>
                <a:gd name="T11" fmla="*/ 0 h 33"/>
                <a:gd name="T12" fmla="*/ 6 w 33"/>
                <a:gd name="T13" fmla="*/ 0 h 33"/>
                <a:gd name="T14" fmla="*/ 9 w 33"/>
                <a:gd name="T15" fmla="*/ 25 h 33"/>
                <a:gd name="T16" fmla="*/ 14 w 33"/>
                <a:gd name="T17" fmla="*/ 0 h 33"/>
                <a:gd name="T18" fmla="*/ 19 w 33"/>
                <a:gd name="T19" fmla="*/ 0 h 33"/>
                <a:gd name="T20" fmla="*/ 24 w 33"/>
                <a:gd name="T21" fmla="*/ 25 h 33"/>
                <a:gd name="T22" fmla="*/ 27 w 33"/>
                <a:gd name="T23" fmla="*/ 0 h 33"/>
                <a:gd name="T24" fmla="*/ 33 w 33"/>
                <a:gd name="T25" fmla="*/ 0 h 33"/>
                <a:gd name="T26" fmla="*/ 27 w 33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" h="33">
                  <a:moveTo>
                    <a:pt x="27" y="33"/>
                  </a:moveTo>
                  <a:lnTo>
                    <a:pt x="21" y="33"/>
                  </a:lnTo>
                  <a:lnTo>
                    <a:pt x="17" y="8"/>
                  </a:lnTo>
                  <a:lnTo>
                    <a:pt x="12" y="33"/>
                  </a:lnTo>
                  <a:lnTo>
                    <a:pt x="7" y="33"/>
                  </a:lnTo>
                  <a:lnTo>
                    <a:pt x="0" y="0"/>
                  </a:lnTo>
                  <a:lnTo>
                    <a:pt x="6" y="0"/>
                  </a:lnTo>
                  <a:lnTo>
                    <a:pt x="9" y="25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4" y="25"/>
                  </a:lnTo>
                  <a:lnTo>
                    <a:pt x="27" y="0"/>
                  </a:lnTo>
                  <a:lnTo>
                    <a:pt x="33" y="0"/>
                  </a:lnTo>
                  <a:lnTo>
                    <a:pt x="27" y="33"/>
                  </a:ln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44"/>
            <p:cNvSpPr>
              <a:spLocks/>
            </p:cNvSpPr>
            <p:nvPr userDrawn="1"/>
          </p:nvSpPr>
          <p:spPr bwMode="auto">
            <a:xfrm>
              <a:off x="9296401" y="5975350"/>
              <a:ext cx="20638" cy="52388"/>
            </a:xfrm>
            <a:custGeom>
              <a:avLst/>
              <a:gdLst>
                <a:gd name="T0" fmla="*/ 0 w 13"/>
                <a:gd name="T1" fmla="*/ 33 h 33"/>
                <a:gd name="T2" fmla="*/ 0 w 13"/>
                <a:gd name="T3" fmla="*/ 0 h 33"/>
                <a:gd name="T4" fmla="*/ 13 w 13"/>
                <a:gd name="T5" fmla="*/ 0 h 33"/>
                <a:gd name="T6" fmla="*/ 13 w 13"/>
                <a:gd name="T7" fmla="*/ 5 h 33"/>
                <a:gd name="T8" fmla="*/ 5 w 13"/>
                <a:gd name="T9" fmla="*/ 5 h 33"/>
                <a:gd name="T10" fmla="*/ 5 w 13"/>
                <a:gd name="T11" fmla="*/ 14 h 33"/>
                <a:gd name="T12" fmla="*/ 12 w 13"/>
                <a:gd name="T13" fmla="*/ 14 h 33"/>
                <a:gd name="T14" fmla="*/ 12 w 13"/>
                <a:gd name="T15" fmla="*/ 19 h 33"/>
                <a:gd name="T16" fmla="*/ 5 w 13"/>
                <a:gd name="T17" fmla="*/ 19 h 33"/>
                <a:gd name="T18" fmla="*/ 5 w 13"/>
                <a:gd name="T19" fmla="*/ 29 h 33"/>
                <a:gd name="T20" fmla="*/ 13 w 13"/>
                <a:gd name="T21" fmla="*/ 29 h 33"/>
                <a:gd name="T22" fmla="*/ 13 w 13"/>
                <a:gd name="T23" fmla="*/ 33 h 33"/>
                <a:gd name="T24" fmla="*/ 0 w 13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33">
                  <a:moveTo>
                    <a:pt x="0" y="33"/>
                  </a:moveTo>
                  <a:lnTo>
                    <a:pt x="0" y="0"/>
                  </a:lnTo>
                  <a:lnTo>
                    <a:pt x="13" y="0"/>
                  </a:lnTo>
                  <a:lnTo>
                    <a:pt x="13" y="5"/>
                  </a:lnTo>
                  <a:lnTo>
                    <a:pt x="5" y="5"/>
                  </a:lnTo>
                  <a:lnTo>
                    <a:pt x="5" y="14"/>
                  </a:lnTo>
                  <a:lnTo>
                    <a:pt x="12" y="14"/>
                  </a:lnTo>
                  <a:lnTo>
                    <a:pt x="12" y="19"/>
                  </a:lnTo>
                  <a:lnTo>
                    <a:pt x="5" y="19"/>
                  </a:lnTo>
                  <a:lnTo>
                    <a:pt x="5" y="29"/>
                  </a:lnTo>
                  <a:lnTo>
                    <a:pt x="13" y="29"/>
                  </a:lnTo>
                  <a:lnTo>
                    <a:pt x="13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45"/>
            <p:cNvSpPr>
              <a:spLocks noEditPoints="1"/>
            </p:cNvSpPr>
            <p:nvPr userDrawn="1"/>
          </p:nvSpPr>
          <p:spPr bwMode="auto">
            <a:xfrm>
              <a:off x="9334501" y="5975350"/>
              <a:ext cx="26988" cy="52388"/>
            </a:xfrm>
            <a:custGeom>
              <a:avLst/>
              <a:gdLst>
                <a:gd name="T0" fmla="*/ 60 w 87"/>
                <a:gd name="T1" fmla="*/ 160 h 160"/>
                <a:gd name="T2" fmla="*/ 40 w 87"/>
                <a:gd name="T3" fmla="*/ 95 h 160"/>
                <a:gd name="T4" fmla="*/ 25 w 87"/>
                <a:gd name="T5" fmla="*/ 95 h 160"/>
                <a:gd name="T6" fmla="*/ 25 w 87"/>
                <a:gd name="T7" fmla="*/ 160 h 160"/>
                <a:gd name="T8" fmla="*/ 0 w 87"/>
                <a:gd name="T9" fmla="*/ 160 h 160"/>
                <a:gd name="T10" fmla="*/ 0 w 87"/>
                <a:gd name="T11" fmla="*/ 0 h 160"/>
                <a:gd name="T12" fmla="*/ 41 w 87"/>
                <a:gd name="T13" fmla="*/ 0 h 160"/>
                <a:gd name="T14" fmla="*/ 81 w 87"/>
                <a:gd name="T15" fmla="*/ 48 h 160"/>
                <a:gd name="T16" fmla="*/ 63 w 87"/>
                <a:gd name="T17" fmla="*/ 89 h 160"/>
                <a:gd name="T18" fmla="*/ 87 w 87"/>
                <a:gd name="T19" fmla="*/ 160 h 160"/>
                <a:gd name="T20" fmla="*/ 60 w 87"/>
                <a:gd name="T21" fmla="*/ 160 h 160"/>
                <a:gd name="T22" fmla="*/ 41 w 87"/>
                <a:gd name="T23" fmla="*/ 23 h 160"/>
                <a:gd name="T24" fmla="*/ 25 w 87"/>
                <a:gd name="T25" fmla="*/ 23 h 160"/>
                <a:gd name="T26" fmla="*/ 25 w 87"/>
                <a:gd name="T27" fmla="*/ 72 h 160"/>
                <a:gd name="T28" fmla="*/ 41 w 87"/>
                <a:gd name="T29" fmla="*/ 72 h 160"/>
                <a:gd name="T30" fmla="*/ 56 w 87"/>
                <a:gd name="T31" fmla="*/ 48 h 160"/>
                <a:gd name="T32" fmla="*/ 41 w 87"/>
                <a:gd name="T33" fmla="*/ 23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160">
                  <a:moveTo>
                    <a:pt x="60" y="160"/>
                  </a:moveTo>
                  <a:cubicBezTo>
                    <a:pt x="40" y="95"/>
                    <a:pt x="40" y="95"/>
                    <a:pt x="40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0" y="0"/>
                    <a:pt x="81" y="15"/>
                    <a:pt x="81" y="48"/>
                  </a:cubicBezTo>
                  <a:cubicBezTo>
                    <a:pt x="81" y="67"/>
                    <a:pt x="77" y="81"/>
                    <a:pt x="63" y="89"/>
                  </a:cubicBezTo>
                  <a:cubicBezTo>
                    <a:pt x="87" y="160"/>
                    <a:pt x="87" y="160"/>
                    <a:pt x="87" y="160"/>
                  </a:cubicBezTo>
                  <a:lnTo>
                    <a:pt x="60" y="160"/>
                  </a:lnTo>
                  <a:close/>
                  <a:moveTo>
                    <a:pt x="41" y="23"/>
                  </a:moveTo>
                  <a:cubicBezTo>
                    <a:pt x="25" y="23"/>
                    <a:pt x="25" y="23"/>
                    <a:pt x="25" y="2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54" y="72"/>
                    <a:pt x="56" y="61"/>
                    <a:pt x="56" y="48"/>
                  </a:cubicBezTo>
                  <a:cubicBezTo>
                    <a:pt x="56" y="34"/>
                    <a:pt x="54" y="23"/>
                    <a:pt x="41" y="23"/>
                  </a:cubicBez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46"/>
            <p:cNvSpPr>
              <a:spLocks/>
            </p:cNvSpPr>
            <p:nvPr userDrawn="1"/>
          </p:nvSpPr>
          <p:spPr bwMode="auto">
            <a:xfrm>
              <a:off x="9378951" y="5975350"/>
              <a:ext cx="20638" cy="52388"/>
            </a:xfrm>
            <a:custGeom>
              <a:avLst/>
              <a:gdLst>
                <a:gd name="T0" fmla="*/ 0 w 13"/>
                <a:gd name="T1" fmla="*/ 33 h 33"/>
                <a:gd name="T2" fmla="*/ 0 w 13"/>
                <a:gd name="T3" fmla="*/ 0 h 33"/>
                <a:gd name="T4" fmla="*/ 13 w 13"/>
                <a:gd name="T5" fmla="*/ 0 h 33"/>
                <a:gd name="T6" fmla="*/ 13 w 13"/>
                <a:gd name="T7" fmla="*/ 5 h 33"/>
                <a:gd name="T8" fmla="*/ 5 w 13"/>
                <a:gd name="T9" fmla="*/ 5 h 33"/>
                <a:gd name="T10" fmla="*/ 5 w 13"/>
                <a:gd name="T11" fmla="*/ 14 h 33"/>
                <a:gd name="T12" fmla="*/ 12 w 13"/>
                <a:gd name="T13" fmla="*/ 14 h 33"/>
                <a:gd name="T14" fmla="*/ 12 w 13"/>
                <a:gd name="T15" fmla="*/ 19 h 33"/>
                <a:gd name="T16" fmla="*/ 5 w 13"/>
                <a:gd name="T17" fmla="*/ 19 h 33"/>
                <a:gd name="T18" fmla="*/ 5 w 13"/>
                <a:gd name="T19" fmla="*/ 29 h 33"/>
                <a:gd name="T20" fmla="*/ 13 w 13"/>
                <a:gd name="T21" fmla="*/ 29 h 33"/>
                <a:gd name="T22" fmla="*/ 13 w 13"/>
                <a:gd name="T23" fmla="*/ 33 h 33"/>
                <a:gd name="T24" fmla="*/ 0 w 13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33">
                  <a:moveTo>
                    <a:pt x="0" y="33"/>
                  </a:moveTo>
                  <a:lnTo>
                    <a:pt x="0" y="0"/>
                  </a:lnTo>
                  <a:lnTo>
                    <a:pt x="13" y="0"/>
                  </a:lnTo>
                  <a:lnTo>
                    <a:pt x="13" y="5"/>
                  </a:lnTo>
                  <a:lnTo>
                    <a:pt x="5" y="5"/>
                  </a:lnTo>
                  <a:lnTo>
                    <a:pt x="5" y="14"/>
                  </a:lnTo>
                  <a:lnTo>
                    <a:pt x="12" y="14"/>
                  </a:lnTo>
                  <a:lnTo>
                    <a:pt x="12" y="19"/>
                  </a:lnTo>
                  <a:lnTo>
                    <a:pt x="5" y="19"/>
                  </a:lnTo>
                  <a:lnTo>
                    <a:pt x="5" y="29"/>
                  </a:lnTo>
                  <a:lnTo>
                    <a:pt x="13" y="29"/>
                  </a:lnTo>
                  <a:lnTo>
                    <a:pt x="13" y="33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47"/>
            <p:cNvSpPr>
              <a:spLocks noEditPoints="1"/>
            </p:cNvSpPr>
            <p:nvPr userDrawn="1"/>
          </p:nvSpPr>
          <p:spPr bwMode="auto">
            <a:xfrm>
              <a:off x="9417051" y="5975350"/>
              <a:ext cx="26988" cy="52388"/>
            </a:xfrm>
            <a:custGeom>
              <a:avLst/>
              <a:gdLst>
                <a:gd name="T0" fmla="*/ 72 w 83"/>
                <a:gd name="T1" fmla="*/ 147 h 160"/>
                <a:gd name="T2" fmla="*/ 41 w 83"/>
                <a:gd name="T3" fmla="*/ 160 h 160"/>
                <a:gd name="T4" fmla="*/ 0 w 83"/>
                <a:gd name="T5" fmla="*/ 160 h 160"/>
                <a:gd name="T6" fmla="*/ 0 w 83"/>
                <a:gd name="T7" fmla="*/ 0 h 160"/>
                <a:gd name="T8" fmla="*/ 41 w 83"/>
                <a:gd name="T9" fmla="*/ 0 h 160"/>
                <a:gd name="T10" fmla="*/ 72 w 83"/>
                <a:gd name="T11" fmla="*/ 14 h 160"/>
                <a:gd name="T12" fmla="*/ 83 w 83"/>
                <a:gd name="T13" fmla="*/ 80 h 160"/>
                <a:gd name="T14" fmla="*/ 72 w 83"/>
                <a:gd name="T15" fmla="*/ 147 h 160"/>
                <a:gd name="T16" fmla="*/ 53 w 83"/>
                <a:gd name="T17" fmla="*/ 30 h 160"/>
                <a:gd name="T18" fmla="*/ 40 w 83"/>
                <a:gd name="T19" fmla="*/ 23 h 160"/>
                <a:gd name="T20" fmla="*/ 25 w 83"/>
                <a:gd name="T21" fmla="*/ 23 h 160"/>
                <a:gd name="T22" fmla="*/ 25 w 83"/>
                <a:gd name="T23" fmla="*/ 137 h 160"/>
                <a:gd name="T24" fmla="*/ 40 w 83"/>
                <a:gd name="T25" fmla="*/ 137 h 160"/>
                <a:gd name="T26" fmla="*/ 53 w 83"/>
                <a:gd name="T27" fmla="*/ 131 h 160"/>
                <a:gd name="T28" fmla="*/ 58 w 83"/>
                <a:gd name="T29" fmla="*/ 80 h 160"/>
                <a:gd name="T30" fmla="*/ 53 w 83"/>
                <a:gd name="T31" fmla="*/ 3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3" h="160">
                  <a:moveTo>
                    <a:pt x="72" y="147"/>
                  </a:moveTo>
                  <a:cubicBezTo>
                    <a:pt x="65" y="154"/>
                    <a:pt x="56" y="160"/>
                    <a:pt x="41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56" y="0"/>
                    <a:pt x="65" y="6"/>
                    <a:pt x="72" y="14"/>
                  </a:cubicBezTo>
                  <a:cubicBezTo>
                    <a:pt x="82" y="26"/>
                    <a:pt x="83" y="43"/>
                    <a:pt x="83" y="80"/>
                  </a:cubicBezTo>
                  <a:cubicBezTo>
                    <a:pt x="83" y="117"/>
                    <a:pt x="82" y="135"/>
                    <a:pt x="72" y="147"/>
                  </a:cubicBezTo>
                  <a:close/>
                  <a:moveTo>
                    <a:pt x="53" y="30"/>
                  </a:moveTo>
                  <a:cubicBezTo>
                    <a:pt x="50" y="26"/>
                    <a:pt x="46" y="23"/>
                    <a:pt x="40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40" y="137"/>
                    <a:pt x="40" y="137"/>
                    <a:pt x="40" y="137"/>
                  </a:cubicBezTo>
                  <a:cubicBezTo>
                    <a:pt x="46" y="137"/>
                    <a:pt x="50" y="135"/>
                    <a:pt x="53" y="131"/>
                  </a:cubicBezTo>
                  <a:cubicBezTo>
                    <a:pt x="58" y="123"/>
                    <a:pt x="58" y="108"/>
                    <a:pt x="58" y="80"/>
                  </a:cubicBezTo>
                  <a:cubicBezTo>
                    <a:pt x="58" y="52"/>
                    <a:pt x="58" y="37"/>
                    <a:pt x="53" y="30"/>
                  </a:cubicBez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48"/>
            <p:cNvSpPr>
              <a:spLocks noEditPoints="1"/>
            </p:cNvSpPr>
            <p:nvPr userDrawn="1"/>
          </p:nvSpPr>
          <p:spPr bwMode="auto">
            <a:xfrm>
              <a:off x="9485313" y="5975350"/>
              <a:ext cx="26988" cy="52388"/>
            </a:xfrm>
            <a:custGeom>
              <a:avLst/>
              <a:gdLst>
                <a:gd name="T0" fmla="*/ 71 w 82"/>
                <a:gd name="T1" fmla="*/ 150 h 160"/>
                <a:gd name="T2" fmla="*/ 40 w 82"/>
                <a:gd name="T3" fmla="*/ 160 h 160"/>
                <a:gd name="T4" fmla="*/ 0 w 82"/>
                <a:gd name="T5" fmla="*/ 160 h 160"/>
                <a:gd name="T6" fmla="*/ 0 w 82"/>
                <a:gd name="T7" fmla="*/ 0 h 160"/>
                <a:gd name="T8" fmla="*/ 40 w 82"/>
                <a:gd name="T9" fmla="*/ 0 h 160"/>
                <a:gd name="T10" fmla="*/ 71 w 82"/>
                <a:gd name="T11" fmla="*/ 10 h 160"/>
                <a:gd name="T12" fmla="*/ 81 w 82"/>
                <a:gd name="T13" fmla="*/ 43 h 160"/>
                <a:gd name="T14" fmla="*/ 72 w 82"/>
                <a:gd name="T15" fmla="*/ 71 h 160"/>
                <a:gd name="T16" fmla="*/ 64 w 82"/>
                <a:gd name="T17" fmla="*/ 76 h 160"/>
                <a:gd name="T18" fmla="*/ 72 w 82"/>
                <a:gd name="T19" fmla="*/ 82 h 160"/>
                <a:gd name="T20" fmla="*/ 82 w 82"/>
                <a:gd name="T21" fmla="*/ 114 h 160"/>
                <a:gd name="T22" fmla="*/ 71 w 82"/>
                <a:gd name="T23" fmla="*/ 150 h 160"/>
                <a:gd name="T24" fmla="*/ 38 w 82"/>
                <a:gd name="T25" fmla="*/ 23 h 160"/>
                <a:gd name="T26" fmla="*/ 25 w 82"/>
                <a:gd name="T27" fmla="*/ 23 h 160"/>
                <a:gd name="T28" fmla="*/ 25 w 82"/>
                <a:gd name="T29" fmla="*/ 66 h 160"/>
                <a:gd name="T30" fmla="*/ 38 w 82"/>
                <a:gd name="T31" fmla="*/ 66 h 160"/>
                <a:gd name="T32" fmla="*/ 56 w 82"/>
                <a:gd name="T33" fmla="*/ 45 h 160"/>
                <a:gd name="T34" fmla="*/ 38 w 82"/>
                <a:gd name="T35" fmla="*/ 23 h 160"/>
                <a:gd name="T36" fmla="*/ 37 w 82"/>
                <a:gd name="T37" fmla="*/ 88 h 160"/>
                <a:gd name="T38" fmla="*/ 25 w 82"/>
                <a:gd name="T39" fmla="*/ 88 h 160"/>
                <a:gd name="T40" fmla="*/ 25 w 82"/>
                <a:gd name="T41" fmla="*/ 137 h 160"/>
                <a:gd name="T42" fmla="*/ 37 w 82"/>
                <a:gd name="T43" fmla="*/ 137 h 160"/>
                <a:gd name="T44" fmla="*/ 56 w 82"/>
                <a:gd name="T45" fmla="*/ 112 h 160"/>
                <a:gd name="T46" fmla="*/ 37 w 82"/>
                <a:gd name="T47" fmla="*/ 8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2" h="160">
                  <a:moveTo>
                    <a:pt x="71" y="150"/>
                  </a:moveTo>
                  <a:cubicBezTo>
                    <a:pt x="65" y="157"/>
                    <a:pt x="55" y="160"/>
                    <a:pt x="40" y="160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55" y="0"/>
                    <a:pt x="65" y="4"/>
                    <a:pt x="71" y="10"/>
                  </a:cubicBezTo>
                  <a:cubicBezTo>
                    <a:pt x="78" y="18"/>
                    <a:pt x="81" y="26"/>
                    <a:pt x="81" y="43"/>
                  </a:cubicBezTo>
                  <a:cubicBezTo>
                    <a:pt x="81" y="54"/>
                    <a:pt x="79" y="63"/>
                    <a:pt x="72" y="71"/>
                  </a:cubicBezTo>
                  <a:cubicBezTo>
                    <a:pt x="70" y="73"/>
                    <a:pt x="67" y="75"/>
                    <a:pt x="64" y="76"/>
                  </a:cubicBezTo>
                  <a:cubicBezTo>
                    <a:pt x="67" y="78"/>
                    <a:pt x="70" y="80"/>
                    <a:pt x="72" y="82"/>
                  </a:cubicBezTo>
                  <a:cubicBezTo>
                    <a:pt x="80" y="90"/>
                    <a:pt x="82" y="99"/>
                    <a:pt x="82" y="114"/>
                  </a:cubicBezTo>
                  <a:cubicBezTo>
                    <a:pt x="82" y="133"/>
                    <a:pt x="79" y="142"/>
                    <a:pt x="71" y="150"/>
                  </a:cubicBezTo>
                  <a:close/>
                  <a:moveTo>
                    <a:pt x="38" y="23"/>
                  </a:moveTo>
                  <a:cubicBezTo>
                    <a:pt x="25" y="23"/>
                    <a:pt x="25" y="23"/>
                    <a:pt x="25" y="23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51" y="66"/>
                    <a:pt x="56" y="60"/>
                    <a:pt x="56" y="45"/>
                  </a:cubicBezTo>
                  <a:cubicBezTo>
                    <a:pt x="56" y="29"/>
                    <a:pt x="51" y="23"/>
                    <a:pt x="38" y="23"/>
                  </a:cubicBezTo>
                  <a:close/>
                  <a:moveTo>
                    <a:pt x="37" y="88"/>
                  </a:moveTo>
                  <a:cubicBezTo>
                    <a:pt x="25" y="88"/>
                    <a:pt x="25" y="88"/>
                    <a:pt x="25" y="88"/>
                  </a:cubicBezTo>
                  <a:cubicBezTo>
                    <a:pt x="25" y="137"/>
                    <a:pt x="25" y="137"/>
                    <a:pt x="25" y="137"/>
                  </a:cubicBezTo>
                  <a:cubicBezTo>
                    <a:pt x="37" y="137"/>
                    <a:pt x="37" y="137"/>
                    <a:pt x="37" y="137"/>
                  </a:cubicBezTo>
                  <a:cubicBezTo>
                    <a:pt x="51" y="137"/>
                    <a:pt x="56" y="131"/>
                    <a:pt x="56" y="112"/>
                  </a:cubicBezTo>
                  <a:cubicBezTo>
                    <a:pt x="56" y="95"/>
                    <a:pt x="51" y="88"/>
                    <a:pt x="37" y="88"/>
                  </a:cubicBez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49"/>
            <p:cNvSpPr>
              <a:spLocks/>
            </p:cNvSpPr>
            <p:nvPr userDrawn="1"/>
          </p:nvSpPr>
          <p:spPr bwMode="auto">
            <a:xfrm>
              <a:off x="9525001" y="5975350"/>
              <a:ext cx="28575" cy="52388"/>
            </a:xfrm>
            <a:custGeom>
              <a:avLst/>
              <a:gdLst>
                <a:gd name="T0" fmla="*/ 12 w 18"/>
                <a:gd name="T1" fmla="*/ 20 h 33"/>
                <a:gd name="T2" fmla="*/ 12 w 18"/>
                <a:gd name="T3" fmla="*/ 33 h 33"/>
                <a:gd name="T4" fmla="*/ 7 w 18"/>
                <a:gd name="T5" fmla="*/ 33 h 33"/>
                <a:gd name="T6" fmla="*/ 7 w 18"/>
                <a:gd name="T7" fmla="*/ 20 h 33"/>
                <a:gd name="T8" fmla="*/ 0 w 18"/>
                <a:gd name="T9" fmla="*/ 0 h 33"/>
                <a:gd name="T10" fmla="*/ 6 w 18"/>
                <a:gd name="T11" fmla="*/ 0 h 33"/>
                <a:gd name="T12" fmla="*/ 9 w 18"/>
                <a:gd name="T13" fmla="*/ 14 h 33"/>
                <a:gd name="T14" fmla="*/ 13 w 18"/>
                <a:gd name="T15" fmla="*/ 0 h 33"/>
                <a:gd name="T16" fmla="*/ 18 w 18"/>
                <a:gd name="T17" fmla="*/ 0 h 33"/>
                <a:gd name="T18" fmla="*/ 12 w 18"/>
                <a:gd name="T19" fmla="*/ 2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33">
                  <a:moveTo>
                    <a:pt x="12" y="20"/>
                  </a:moveTo>
                  <a:lnTo>
                    <a:pt x="12" y="33"/>
                  </a:lnTo>
                  <a:lnTo>
                    <a:pt x="7" y="33"/>
                  </a:lnTo>
                  <a:lnTo>
                    <a:pt x="7" y="20"/>
                  </a:lnTo>
                  <a:lnTo>
                    <a:pt x="0" y="0"/>
                  </a:lnTo>
                  <a:lnTo>
                    <a:pt x="6" y="0"/>
                  </a:lnTo>
                  <a:lnTo>
                    <a:pt x="9" y="14"/>
                  </a:lnTo>
                  <a:lnTo>
                    <a:pt x="13" y="0"/>
                  </a:lnTo>
                  <a:lnTo>
                    <a:pt x="18" y="0"/>
                  </a:lnTo>
                  <a:lnTo>
                    <a:pt x="12" y="20"/>
                  </a:lnTo>
                  <a:close/>
                </a:path>
              </a:pathLst>
            </a:cu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55" name="Picture 68" descr="C:\WORK IN PROGRESS\PPT template\Infinity PPT\CheckPoint_Infinity_Logo_cropped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687" y="5875437"/>
            <a:ext cx="316623" cy="270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Footer_copyright"/>
          <p:cNvSpPr txBox="1">
            <a:spLocks/>
          </p:cNvSpPr>
          <p:nvPr userDrawn="1"/>
        </p:nvSpPr>
        <p:spPr>
          <a:xfrm>
            <a:off x="349590" y="6525768"/>
            <a:ext cx="3680903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75000"/>
                  </a:schemeClr>
                </a:solidFill>
              </a:rPr>
              <a:t>©2017 Check Point Software Technologies</a:t>
            </a:r>
            <a:r>
              <a:rPr lang="en-US" sz="900" kern="0" baseline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75000"/>
                  </a:schemeClr>
                </a:solidFill>
              </a:rPr>
              <a:t>Ltd. </a:t>
            </a:r>
          </a:p>
        </p:txBody>
      </p:sp>
      <p:sp>
        <p:nvSpPr>
          <p:cNvPr id="93" name="Date" hidden="1"/>
          <p:cNvSpPr>
            <a:spLocks noGrp="1"/>
          </p:cNvSpPr>
          <p:nvPr userDrawn="1"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12/5/2017</a:t>
            </a:fld>
            <a:endParaRPr lang="en-US" dirty="0"/>
          </a:p>
        </p:txBody>
      </p:sp>
      <p:sp>
        <p:nvSpPr>
          <p:cNvPr id="16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85693" y="5114995"/>
            <a:ext cx="5804989" cy="692595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21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 | Speaker Title</a:t>
            </a:r>
          </a:p>
        </p:txBody>
      </p:sp>
      <p:sp>
        <p:nvSpPr>
          <p:cNvPr id="15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8073" y="3229665"/>
            <a:ext cx="5804989" cy="968848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 b="0" baseline="0">
                <a:solidFill>
                  <a:schemeClr val="bg1"/>
                </a:solidFill>
                <a:latin typeface="+mj-lt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7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78073" y="2158451"/>
            <a:ext cx="5804989" cy="1071215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sz="40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buClrTx/>
              <a:buSzTx/>
            </a:pPr>
            <a:r>
              <a:rPr lang="en-US" kern="0" dirty="0"/>
              <a:t>PRESENTATION TITLE</a:t>
            </a:r>
          </a:p>
        </p:txBody>
      </p:sp>
      <p:sp>
        <p:nvSpPr>
          <p:cNvPr id="91" name="Footer_security classification" hidden="1"/>
          <p:cNvSpPr>
            <a:spLocks noGrp="1"/>
          </p:cNvSpPr>
          <p:nvPr userDrawn="1">
            <p:ph type="ftr" sz="quarter" idx="3"/>
          </p:nvPr>
        </p:nvSpPr>
        <p:spPr>
          <a:xfrm>
            <a:off x="2957904" y="6525768"/>
            <a:ext cx="3799400" cy="30175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026" name="Check Point Logo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71" y="239941"/>
            <a:ext cx="1737360" cy="1088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7263671" y="5076024"/>
            <a:ext cx="3526771" cy="1432257"/>
            <a:chOff x="7263671" y="5076024"/>
            <a:chExt cx="3526771" cy="1432257"/>
          </a:xfrm>
        </p:grpSpPr>
        <p:grpSp>
          <p:nvGrpSpPr>
            <p:cNvPr id="94" name="Group 7"/>
            <p:cNvGrpSpPr>
              <a:grpSpLocks noChangeAspect="1"/>
            </p:cNvGrpSpPr>
            <p:nvPr userDrawn="1"/>
          </p:nvGrpSpPr>
          <p:grpSpPr bwMode="auto">
            <a:xfrm>
              <a:off x="7263671" y="6436843"/>
              <a:ext cx="2651125" cy="71438"/>
              <a:chOff x="4420" y="3962"/>
              <a:chExt cx="1670" cy="45"/>
            </a:xfrm>
          </p:grpSpPr>
          <p:sp>
            <p:nvSpPr>
              <p:cNvPr id="95" name="AutoShape 6"/>
              <p:cNvSpPr>
                <a:spLocks noChangeAspect="1" noChangeArrowheads="1" noTextEdit="1"/>
              </p:cNvSpPr>
              <p:nvPr userDrawn="1"/>
            </p:nvSpPr>
            <p:spPr bwMode="auto">
              <a:xfrm>
                <a:off x="4420" y="3962"/>
                <a:ext cx="1670" cy="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8"/>
              <p:cNvSpPr>
                <a:spLocks/>
              </p:cNvSpPr>
              <p:nvPr userDrawn="1"/>
            </p:nvSpPr>
            <p:spPr bwMode="auto">
              <a:xfrm>
                <a:off x="4420" y="3962"/>
                <a:ext cx="32" cy="44"/>
              </a:xfrm>
              <a:custGeom>
                <a:avLst/>
                <a:gdLst>
                  <a:gd name="T0" fmla="*/ 13 w 25"/>
                  <a:gd name="T1" fmla="*/ 35 h 35"/>
                  <a:gd name="T2" fmla="*/ 3 w 25"/>
                  <a:gd name="T3" fmla="*/ 31 h 35"/>
                  <a:gd name="T4" fmla="*/ 0 w 25"/>
                  <a:gd name="T5" fmla="*/ 17 h 35"/>
                  <a:gd name="T6" fmla="*/ 3 w 25"/>
                  <a:gd name="T7" fmla="*/ 3 h 35"/>
                  <a:gd name="T8" fmla="*/ 13 w 25"/>
                  <a:gd name="T9" fmla="*/ 0 h 35"/>
                  <a:gd name="T10" fmla="*/ 25 w 25"/>
                  <a:gd name="T11" fmla="*/ 11 h 35"/>
                  <a:gd name="T12" fmla="*/ 19 w 25"/>
                  <a:gd name="T13" fmla="*/ 11 h 35"/>
                  <a:gd name="T14" fmla="*/ 13 w 25"/>
                  <a:gd name="T15" fmla="*/ 6 h 35"/>
                  <a:gd name="T16" fmla="*/ 8 w 25"/>
                  <a:gd name="T17" fmla="*/ 7 h 35"/>
                  <a:gd name="T18" fmla="*/ 7 w 25"/>
                  <a:gd name="T19" fmla="*/ 17 h 35"/>
                  <a:gd name="T20" fmla="*/ 8 w 25"/>
                  <a:gd name="T21" fmla="*/ 27 h 35"/>
                  <a:gd name="T22" fmla="*/ 13 w 25"/>
                  <a:gd name="T23" fmla="*/ 29 h 35"/>
                  <a:gd name="T24" fmla="*/ 19 w 25"/>
                  <a:gd name="T25" fmla="*/ 24 h 35"/>
                  <a:gd name="T26" fmla="*/ 25 w 25"/>
                  <a:gd name="T27" fmla="*/ 24 h 35"/>
                  <a:gd name="T28" fmla="*/ 13 w 25"/>
                  <a:gd name="T29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5" h="35">
                    <a:moveTo>
                      <a:pt x="13" y="35"/>
                    </a:moveTo>
                    <a:cubicBezTo>
                      <a:pt x="9" y="35"/>
                      <a:pt x="6" y="34"/>
                      <a:pt x="3" y="31"/>
                    </a:cubicBezTo>
                    <a:cubicBezTo>
                      <a:pt x="0" y="28"/>
                      <a:pt x="0" y="24"/>
                      <a:pt x="0" y="17"/>
                    </a:cubicBezTo>
                    <a:cubicBezTo>
                      <a:pt x="0" y="11"/>
                      <a:pt x="0" y="7"/>
                      <a:pt x="3" y="3"/>
                    </a:cubicBezTo>
                    <a:cubicBezTo>
                      <a:pt x="6" y="1"/>
                      <a:pt x="9" y="0"/>
                      <a:pt x="13" y="0"/>
                    </a:cubicBezTo>
                    <a:cubicBezTo>
                      <a:pt x="19" y="0"/>
                      <a:pt x="24" y="3"/>
                      <a:pt x="25" y="11"/>
                    </a:cubicBezTo>
                    <a:cubicBezTo>
                      <a:pt x="19" y="11"/>
                      <a:pt x="19" y="11"/>
                      <a:pt x="19" y="11"/>
                    </a:cubicBezTo>
                    <a:cubicBezTo>
                      <a:pt x="18" y="8"/>
                      <a:pt x="16" y="6"/>
                      <a:pt x="13" y="6"/>
                    </a:cubicBezTo>
                    <a:cubicBezTo>
                      <a:pt x="11" y="6"/>
                      <a:pt x="9" y="6"/>
                      <a:pt x="8" y="7"/>
                    </a:cubicBezTo>
                    <a:cubicBezTo>
                      <a:pt x="7" y="9"/>
                      <a:pt x="7" y="11"/>
                      <a:pt x="7" y="17"/>
                    </a:cubicBezTo>
                    <a:cubicBezTo>
                      <a:pt x="7" y="24"/>
                      <a:pt x="7" y="26"/>
                      <a:pt x="8" y="27"/>
                    </a:cubicBezTo>
                    <a:cubicBezTo>
                      <a:pt x="9" y="28"/>
                      <a:pt x="11" y="29"/>
                      <a:pt x="13" y="29"/>
                    </a:cubicBezTo>
                    <a:cubicBezTo>
                      <a:pt x="16" y="29"/>
                      <a:pt x="18" y="27"/>
                      <a:pt x="19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31"/>
                      <a:pt x="19" y="35"/>
                      <a:pt x="13" y="35"/>
                    </a:cubicBez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9"/>
              <p:cNvSpPr>
                <a:spLocks/>
              </p:cNvSpPr>
              <p:nvPr userDrawn="1"/>
            </p:nvSpPr>
            <p:spPr bwMode="auto">
              <a:xfrm>
                <a:off x="4472" y="3962"/>
                <a:ext cx="29" cy="44"/>
              </a:xfrm>
              <a:custGeom>
                <a:avLst/>
                <a:gdLst>
                  <a:gd name="T0" fmla="*/ 0 w 29"/>
                  <a:gd name="T1" fmla="*/ 44 h 44"/>
                  <a:gd name="T2" fmla="*/ 0 w 29"/>
                  <a:gd name="T3" fmla="*/ 0 h 44"/>
                  <a:gd name="T4" fmla="*/ 9 w 29"/>
                  <a:gd name="T5" fmla="*/ 0 h 44"/>
                  <a:gd name="T6" fmla="*/ 9 w 29"/>
                  <a:gd name="T7" fmla="*/ 36 h 44"/>
                  <a:gd name="T8" fmla="*/ 29 w 29"/>
                  <a:gd name="T9" fmla="*/ 36 h 44"/>
                  <a:gd name="T10" fmla="*/ 29 w 29"/>
                  <a:gd name="T11" fmla="*/ 44 h 44"/>
                  <a:gd name="T12" fmla="*/ 0 w 29"/>
                  <a:gd name="T13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4">
                    <a:moveTo>
                      <a:pt x="0" y="44"/>
                    </a:moveTo>
                    <a:lnTo>
                      <a:pt x="0" y="0"/>
                    </a:lnTo>
                    <a:lnTo>
                      <a:pt x="9" y="0"/>
                    </a:lnTo>
                    <a:lnTo>
                      <a:pt x="9" y="36"/>
                    </a:lnTo>
                    <a:lnTo>
                      <a:pt x="29" y="36"/>
                    </a:lnTo>
                    <a:lnTo>
                      <a:pt x="29" y="44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10"/>
              <p:cNvSpPr>
                <a:spLocks noEditPoints="1"/>
              </p:cNvSpPr>
              <p:nvPr userDrawn="1"/>
            </p:nvSpPr>
            <p:spPr bwMode="auto">
              <a:xfrm>
                <a:off x="4519" y="3962"/>
                <a:ext cx="32" cy="44"/>
              </a:xfrm>
              <a:custGeom>
                <a:avLst/>
                <a:gdLst>
                  <a:gd name="T0" fmla="*/ 22 w 25"/>
                  <a:gd name="T1" fmla="*/ 31 h 35"/>
                  <a:gd name="T2" fmla="*/ 13 w 25"/>
                  <a:gd name="T3" fmla="*/ 35 h 35"/>
                  <a:gd name="T4" fmla="*/ 3 w 25"/>
                  <a:gd name="T5" fmla="*/ 31 h 35"/>
                  <a:gd name="T6" fmla="*/ 0 w 25"/>
                  <a:gd name="T7" fmla="*/ 17 h 35"/>
                  <a:gd name="T8" fmla="*/ 3 w 25"/>
                  <a:gd name="T9" fmla="*/ 3 h 35"/>
                  <a:gd name="T10" fmla="*/ 13 w 25"/>
                  <a:gd name="T11" fmla="*/ 0 h 35"/>
                  <a:gd name="T12" fmla="*/ 22 w 25"/>
                  <a:gd name="T13" fmla="*/ 3 h 35"/>
                  <a:gd name="T14" fmla="*/ 25 w 25"/>
                  <a:gd name="T15" fmla="*/ 17 h 35"/>
                  <a:gd name="T16" fmla="*/ 22 w 25"/>
                  <a:gd name="T17" fmla="*/ 31 h 35"/>
                  <a:gd name="T18" fmla="*/ 17 w 25"/>
                  <a:gd name="T19" fmla="*/ 8 h 35"/>
                  <a:gd name="T20" fmla="*/ 13 w 25"/>
                  <a:gd name="T21" fmla="*/ 6 h 35"/>
                  <a:gd name="T22" fmla="*/ 8 w 25"/>
                  <a:gd name="T23" fmla="*/ 8 h 35"/>
                  <a:gd name="T24" fmla="*/ 7 w 25"/>
                  <a:gd name="T25" fmla="*/ 17 h 35"/>
                  <a:gd name="T26" fmla="*/ 8 w 25"/>
                  <a:gd name="T27" fmla="*/ 27 h 35"/>
                  <a:gd name="T28" fmla="*/ 13 w 25"/>
                  <a:gd name="T29" fmla="*/ 29 h 35"/>
                  <a:gd name="T30" fmla="*/ 17 w 25"/>
                  <a:gd name="T31" fmla="*/ 27 h 35"/>
                  <a:gd name="T32" fmla="*/ 19 w 25"/>
                  <a:gd name="T33" fmla="*/ 17 h 35"/>
                  <a:gd name="T34" fmla="*/ 17 w 25"/>
                  <a:gd name="T35" fmla="*/ 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" h="35">
                    <a:moveTo>
                      <a:pt x="22" y="31"/>
                    </a:moveTo>
                    <a:cubicBezTo>
                      <a:pt x="20" y="34"/>
                      <a:pt x="17" y="35"/>
                      <a:pt x="13" y="35"/>
                    </a:cubicBezTo>
                    <a:cubicBezTo>
                      <a:pt x="9" y="35"/>
                      <a:pt x="6" y="34"/>
                      <a:pt x="3" y="31"/>
                    </a:cubicBezTo>
                    <a:cubicBezTo>
                      <a:pt x="0" y="28"/>
                      <a:pt x="0" y="24"/>
                      <a:pt x="0" y="17"/>
                    </a:cubicBezTo>
                    <a:cubicBezTo>
                      <a:pt x="0" y="11"/>
                      <a:pt x="0" y="7"/>
                      <a:pt x="3" y="3"/>
                    </a:cubicBezTo>
                    <a:cubicBezTo>
                      <a:pt x="6" y="1"/>
                      <a:pt x="9" y="0"/>
                      <a:pt x="13" y="0"/>
                    </a:cubicBezTo>
                    <a:cubicBezTo>
                      <a:pt x="17" y="0"/>
                      <a:pt x="20" y="1"/>
                      <a:pt x="22" y="3"/>
                    </a:cubicBezTo>
                    <a:cubicBezTo>
                      <a:pt x="25" y="7"/>
                      <a:pt x="25" y="11"/>
                      <a:pt x="25" y="17"/>
                    </a:cubicBezTo>
                    <a:cubicBezTo>
                      <a:pt x="25" y="24"/>
                      <a:pt x="25" y="28"/>
                      <a:pt x="22" y="31"/>
                    </a:cubicBezTo>
                    <a:close/>
                    <a:moveTo>
                      <a:pt x="17" y="8"/>
                    </a:moveTo>
                    <a:cubicBezTo>
                      <a:pt x="16" y="6"/>
                      <a:pt x="14" y="6"/>
                      <a:pt x="13" y="6"/>
                    </a:cubicBezTo>
                    <a:cubicBezTo>
                      <a:pt x="11" y="6"/>
                      <a:pt x="9" y="6"/>
                      <a:pt x="8" y="8"/>
                    </a:cubicBezTo>
                    <a:cubicBezTo>
                      <a:pt x="7" y="9"/>
                      <a:pt x="7" y="11"/>
                      <a:pt x="7" y="17"/>
                    </a:cubicBezTo>
                    <a:cubicBezTo>
                      <a:pt x="7" y="24"/>
                      <a:pt x="7" y="26"/>
                      <a:pt x="8" y="27"/>
                    </a:cubicBezTo>
                    <a:cubicBezTo>
                      <a:pt x="9" y="28"/>
                      <a:pt x="11" y="29"/>
                      <a:pt x="13" y="29"/>
                    </a:cubicBezTo>
                    <a:cubicBezTo>
                      <a:pt x="14" y="29"/>
                      <a:pt x="16" y="28"/>
                      <a:pt x="17" y="27"/>
                    </a:cubicBezTo>
                    <a:cubicBezTo>
                      <a:pt x="18" y="26"/>
                      <a:pt x="19" y="24"/>
                      <a:pt x="19" y="17"/>
                    </a:cubicBezTo>
                    <a:cubicBezTo>
                      <a:pt x="19" y="11"/>
                      <a:pt x="18" y="9"/>
                      <a:pt x="17" y="8"/>
                    </a:cubicBez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1"/>
              <p:cNvSpPr>
                <a:spLocks/>
              </p:cNvSpPr>
              <p:nvPr userDrawn="1"/>
            </p:nvSpPr>
            <p:spPr bwMode="auto">
              <a:xfrm>
                <a:off x="4572" y="3962"/>
                <a:ext cx="32" cy="44"/>
              </a:xfrm>
              <a:custGeom>
                <a:avLst/>
                <a:gdLst>
                  <a:gd name="T0" fmla="*/ 12 w 25"/>
                  <a:gd name="T1" fmla="*/ 35 h 35"/>
                  <a:gd name="T2" fmla="*/ 0 w 25"/>
                  <a:gd name="T3" fmla="*/ 23 h 35"/>
                  <a:gd name="T4" fmla="*/ 0 w 25"/>
                  <a:gd name="T5" fmla="*/ 0 h 35"/>
                  <a:gd name="T6" fmla="*/ 6 w 25"/>
                  <a:gd name="T7" fmla="*/ 0 h 35"/>
                  <a:gd name="T8" fmla="*/ 6 w 25"/>
                  <a:gd name="T9" fmla="*/ 23 h 35"/>
                  <a:gd name="T10" fmla="*/ 12 w 25"/>
                  <a:gd name="T11" fmla="*/ 29 h 35"/>
                  <a:gd name="T12" fmla="*/ 18 w 25"/>
                  <a:gd name="T13" fmla="*/ 23 h 35"/>
                  <a:gd name="T14" fmla="*/ 18 w 25"/>
                  <a:gd name="T15" fmla="*/ 0 h 35"/>
                  <a:gd name="T16" fmla="*/ 25 w 25"/>
                  <a:gd name="T17" fmla="*/ 0 h 35"/>
                  <a:gd name="T18" fmla="*/ 25 w 25"/>
                  <a:gd name="T19" fmla="*/ 23 h 35"/>
                  <a:gd name="T20" fmla="*/ 12 w 25"/>
                  <a:gd name="T21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35">
                    <a:moveTo>
                      <a:pt x="12" y="35"/>
                    </a:moveTo>
                    <a:cubicBezTo>
                      <a:pt x="5" y="35"/>
                      <a:pt x="0" y="30"/>
                      <a:pt x="0" y="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7"/>
                      <a:pt x="9" y="29"/>
                      <a:pt x="12" y="29"/>
                    </a:cubicBezTo>
                    <a:cubicBezTo>
                      <a:pt x="16" y="29"/>
                      <a:pt x="18" y="27"/>
                      <a:pt x="18" y="23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30"/>
                      <a:pt x="19" y="35"/>
                      <a:pt x="12" y="35"/>
                    </a:cubicBez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12"/>
              <p:cNvSpPr>
                <a:spLocks noEditPoints="1"/>
              </p:cNvSpPr>
              <p:nvPr userDrawn="1"/>
            </p:nvSpPr>
            <p:spPr bwMode="auto">
              <a:xfrm>
                <a:off x="4625" y="3962"/>
                <a:ext cx="33" cy="44"/>
              </a:xfrm>
              <a:custGeom>
                <a:avLst/>
                <a:gdLst>
                  <a:gd name="T0" fmla="*/ 23 w 26"/>
                  <a:gd name="T1" fmla="*/ 30 h 35"/>
                  <a:gd name="T2" fmla="*/ 13 w 26"/>
                  <a:gd name="T3" fmla="*/ 35 h 35"/>
                  <a:gd name="T4" fmla="*/ 0 w 26"/>
                  <a:gd name="T5" fmla="*/ 35 h 35"/>
                  <a:gd name="T6" fmla="*/ 0 w 26"/>
                  <a:gd name="T7" fmla="*/ 0 h 35"/>
                  <a:gd name="T8" fmla="*/ 13 w 26"/>
                  <a:gd name="T9" fmla="*/ 0 h 35"/>
                  <a:gd name="T10" fmla="*/ 23 w 26"/>
                  <a:gd name="T11" fmla="*/ 5 h 35"/>
                  <a:gd name="T12" fmla="*/ 26 w 26"/>
                  <a:gd name="T13" fmla="*/ 17 h 35"/>
                  <a:gd name="T14" fmla="*/ 23 w 26"/>
                  <a:gd name="T15" fmla="*/ 30 h 35"/>
                  <a:gd name="T16" fmla="*/ 17 w 26"/>
                  <a:gd name="T17" fmla="*/ 8 h 35"/>
                  <a:gd name="T18" fmla="*/ 12 w 26"/>
                  <a:gd name="T19" fmla="*/ 6 h 35"/>
                  <a:gd name="T20" fmla="*/ 7 w 26"/>
                  <a:gd name="T21" fmla="*/ 6 h 35"/>
                  <a:gd name="T22" fmla="*/ 7 w 26"/>
                  <a:gd name="T23" fmla="*/ 29 h 35"/>
                  <a:gd name="T24" fmla="*/ 12 w 26"/>
                  <a:gd name="T25" fmla="*/ 29 h 35"/>
                  <a:gd name="T26" fmla="*/ 17 w 26"/>
                  <a:gd name="T27" fmla="*/ 26 h 35"/>
                  <a:gd name="T28" fmla="*/ 19 w 26"/>
                  <a:gd name="T29" fmla="*/ 17 h 35"/>
                  <a:gd name="T30" fmla="*/ 17 w 26"/>
                  <a:gd name="T31" fmla="*/ 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" h="35">
                    <a:moveTo>
                      <a:pt x="23" y="30"/>
                    </a:moveTo>
                    <a:cubicBezTo>
                      <a:pt x="21" y="33"/>
                      <a:pt x="18" y="35"/>
                      <a:pt x="13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21" y="2"/>
                      <a:pt x="23" y="5"/>
                    </a:cubicBezTo>
                    <a:cubicBezTo>
                      <a:pt x="26" y="8"/>
                      <a:pt x="26" y="12"/>
                      <a:pt x="26" y="17"/>
                    </a:cubicBezTo>
                    <a:cubicBezTo>
                      <a:pt x="26" y="23"/>
                      <a:pt x="26" y="27"/>
                      <a:pt x="23" y="30"/>
                    </a:cubicBezTo>
                    <a:close/>
                    <a:moveTo>
                      <a:pt x="17" y="8"/>
                    </a:moveTo>
                    <a:cubicBezTo>
                      <a:pt x="16" y="7"/>
                      <a:pt x="15" y="6"/>
                      <a:pt x="12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5" y="29"/>
                      <a:pt x="16" y="28"/>
                      <a:pt x="17" y="26"/>
                    </a:cubicBezTo>
                    <a:cubicBezTo>
                      <a:pt x="19" y="25"/>
                      <a:pt x="19" y="23"/>
                      <a:pt x="19" y="17"/>
                    </a:cubicBezTo>
                    <a:cubicBezTo>
                      <a:pt x="19" y="12"/>
                      <a:pt x="19" y="10"/>
                      <a:pt x="17" y="8"/>
                    </a:cubicBez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Oval 13"/>
              <p:cNvSpPr>
                <a:spLocks noChangeArrowheads="1"/>
              </p:cNvSpPr>
              <p:nvPr userDrawn="1"/>
            </p:nvSpPr>
            <p:spPr bwMode="auto">
              <a:xfrm>
                <a:off x="4722" y="3968"/>
                <a:ext cx="25" cy="24"/>
              </a:xfrm>
              <a:prstGeom prst="ellipse">
                <a:avLst/>
              </a:prstGeom>
              <a:solidFill>
                <a:srgbClr val="E656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14"/>
              <p:cNvSpPr>
                <a:spLocks/>
              </p:cNvSpPr>
              <p:nvPr userDrawn="1"/>
            </p:nvSpPr>
            <p:spPr bwMode="auto">
              <a:xfrm>
                <a:off x="4827" y="3962"/>
                <a:ext cx="41" cy="44"/>
              </a:xfrm>
              <a:custGeom>
                <a:avLst/>
                <a:gdLst>
                  <a:gd name="T0" fmla="*/ 32 w 41"/>
                  <a:gd name="T1" fmla="*/ 44 h 44"/>
                  <a:gd name="T2" fmla="*/ 32 w 41"/>
                  <a:gd name="T3" fmla="*/ 17 h 44"/>
                  <a:gd name="T4" fmla="*/ 23 w 41"/>
                  <a:gd name="T5" fmla="*/ 35 h 44"/>
                  <a:gd name="T6" fmla="*/ 18 w 41"/>
                  <a:gd name="T7" fmla="*/ 35 h 44"/>
                  <a:gd name="T8" fmla="*/ 9 w 41"/>
                  <a:gd name="T9" fmla="*/ 17 h 44"/>
                  <a:gd name="T10" fmla="*/ 9 w 41"/>
                  <a:gd name="T11" fmla="*/ 44 h 44"/>
                  <a:gd name="T12" fmla="*/ 0 w 41"/>
                  <a:gd name="T13" fmla="*/ 44 h 44"/>
                  <a:gd name="T14" fmla="*/ 0 w 41"/>
                  <a:gd name="T15" fmla="*/ 0 h 44"/>
                  <a:gd name="T16" fmla="*/ 9 w 41"/>
                  <a:gd name="T17" fmla="*/ 0 h 44"/>
                  <a:gd name="T18" fmla="*/ 20 w 41"/>
                  <a:gd name="T19" fmla="*/ 24 h 44"/>
                  <a:gd name="T20" fmla="*/ 32 w 41"/>
                  <a:gd name="T21" fmla="*/ 0 h 44"/>
                  <a:gd name="T22" fmla="*/ 41 w 41"/>
                  <a:gd name="T23" fmla="*/ 0 h 44"/>
                  <a:gd name="T24" fmla="*/ 41 w 41"/>
                  <a:gd name="T25" fmla="*/ 44 h 44"/>
                  <a:gd name="T26" fmla="*/ 32 w 41"/>
                  <a:gd name="T27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44">
                    <a:moveTo>
                      <a:pt x="32" y="44"/>
                    </a:moveTo>
                    <a:lnTo>
                      <a:pt x="32" y="17"/>
                    </a:lnTo>
                    <a:lnTo>
                      <a:pt x="23" y="35"/>
                    </a:lnTo>
                    <a:lnTo>
                      <a:pt x="18" y="35"/>
                    </a:lnTo>
                    <a:lnTo>
                      <a:pt x="9" y="17"/>
                    </a:lnTo>
                    <a:lnTo>
                      <a:pt x="9" y="44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0" y="24"/>
                    </a:lnTo>
                    <a:lnTo>
                      <a:pt x="32" y="0"/>
                    </a:lnTo>
                    <a:lnTo>
                      <a:pt x="41" y="0"/>
                    </a:lnTo>
                    <a:lnTo>
                      <a:pt x="41" y="44"/>
                    </a:lnTo>
                    <a:lnTo>
                      <a:pt x="32" y="44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15"/>
              <p:cNvSpPr>
                <a:spLocks noEditPoints="1"/>
              </p:cNvSpPr>
              <p:nvPr userDrawn="1"/>
            </p:nvSpPr>
            <p:spPr bwMode="auto">
              <a:xfrm>
                <a:off x="4888" y="3962"/>
                <a:ext cx="33" cy="44"/>
              </a:xfrm>
              <a:custGeom>
                <a:avLst/>
                <a:gdLst>
                  <a:gd name="T0" fmla="*/ 22 w 26"/>
                  <a:gd name="T1" fmla="*/ 31 h 35"/>
                  <a:gd name="T2" fmla="*/ 13 w 26"/>
                  <a:gd name="T3" fmla="*/ 35 h 35"/>
                  <a:gd name="T4" fmla="*/ 4 w 26"/>
                  <a:gd name="T5" fmla="*/ 31 h 35"/>
                  <a:gd name="T6" fmla="*/ 0 w 26"/>
                  <a:gd name="T7" fmla="*/ 17 h 35"/>
                  <a:gd name="T8" fmla="*/ 4 w 26"/>
                  <a:gd name="T9" fmla="*/ 3 h 35"/>
                  <a:gd name="T10" fmla="*/ 13 w 26"/>
                  <a:gd name="T11" fmla="*/ 0 h 35"/>
                  <a:gd name="T12" fmla="*/ 22 w 26"/>
                  <a:gd name="T13" fmla="*/ 3 h 35"/>
                  <a:gd name="T14" fmla="*/ 26 w 26"/>
                  <a:gd name="T15" fmla="*/ 17 h 35"/>
                  <a:gd name="T16" fmla="*/ 22 w 26"/>
                  <a:gd name="T17" fmla="*/ 31 h 35"/>
                  <a:gd name="T18" fmla="*/ 17 w 26"/>
                  <a:gd name="T19" fmla="*/ 8 h 35"/>
                  <a:gd name="T20" fmla="*/ 13 w 26"/>
                  <a:gd name="T21" fmla="*/ 6 h 35"/>
                  <a:gd name="T22" fmla="*/ 9 w 26"/>
                  <a:gd name="T23" fmla="*/ 8 h 35"/>
                  <a:gd name="T24" fmla="*/ 7 w 26"/>
                  <a:gd name="T25" fmla="*/ 17 h 35"/>
                  <a:gd name="T26" fmla="*/ 9 w 26"/>
                  <a:gd name="T27" fmla="*/ 27 h 35"/>
                  <a:gd name="T28" fmla="*/ 13 w 26"/>
                  <a:gd name="T29" fmla="*/ 29 h 35"/>
                  <a:gd name="T30" fmla="*/ 17 w 26"/>
                  <a:gd name="T31" fmla="*/ 27 h 35"/>
                  <a:gd name="T32" fmla="*/ 19 w 26"/>
                  <a:gd name="T33" fmla="*/ 17 h 35"/>
                  <a:gd name="T34" fmla="*/ 17 w 26"/>
                  <a:gd name="T35" fmla="*/ 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35">
                    <a:moveTo>
                      <a:pt x="22" y="31"/>
                    </a:moveTo>
                    <a:cubicBezTo>
                      <a:pt x="20" y="34"/>
                      <a:pt x="17" y="35"/>
                      <a:pt x="13" y="35"/>
                    </a:cubicBezTo>
                    <a:cubicBezTo>
                      <a:pt x="9" y="35"/>
                      <a:pt x="6" y="34"/>
                      <a:pt x="4" y="31"/>
                    </a:cubicBezTo>
                    <a:cubicBezTo>
                      <a:pt x="0" y="28"/>
                      <a:pt x="0" y="24"/>
                      <a:pt x="0" y="17"/>
                    </a:cubicBezTo>
                    <a:cubicBezTo>
                      <a:pt x="0" y="11"/>
                      <a:pt x="0" y="7"/>
                      <a:pt x="4" y="3"/>
                    </a:cubicBezTo>
                    <a:cubicBezTo>
                      <a:pt x="6" y="1"/>
                      <a:pt x="9" y="0"/>
                      <a:pt x="13" y="0"/>
                    </a:cubicBezTo>
                    <a:cubicBezTo>
                      <a:pt x="17" y="0"/>
                      <a:pt x="20" y="1"/>
                      <a:pt x="22" y="3"/>
                    </a:cubicBezTo>
                    <a:cubicBezTo>
                      <a:pt x="26" y="7"/>
                      <a:pt x="26" y="11"/>
                      <a:pt x="26" y="17"/>
                    </a:cubicBezTo>
                    <a:cubicBezTo>
                      <a:pt x="26" y="24"/>
                      <a:pt x="26" y="28"/>
                      <a:pt x="22" y="31"/>
                    </a:cubicBezTo>
                    <a:close/>
                    <a:moveTo>
                      <a:pt x="17" y="8"/>
                    </a:moveTo>
                    <a:cubicBezTo>
                      <a:pt x="16" y="6"/>
                      <a:pt x="15" y="6"/>
                      <a:pt x="13" y="6"/>
                    </a:cubicBezTo>
                    <a:cubicBezTo>
                      <a:pt x="11" y="6"/>
                      <a:pt x="10" y="6"/>
                      <a:pt x="9" y="8"/>
                    </a:cubicBezTo>
                    <a:cubicBezTo>
                      <a:pt x="7" y="9"/>
                      <a:pt x="7" y="11"/>
                      <a:pt x="7" y="17"/>
                    </a:cubicBezTo>
                    <a:cubicBezTo>
                      <a:pt x="7" y="24"/>
                      <a:pt x="7" y="26"/>
                      <a:pt x="9" y="27"/>
                    </a:cubicBezTo>
                    <a:cubicBezTo>
                      <a:pt x="10" y="28"/>
                      <a:pt x="11" y="29"/>
                      <a:pt x="13" y="29"/>
                    </a:cubicBezTo>
                    <a:cubicBezTo>
                      <a:pt x="15" y="29"/>
                      <a:pt x="16" y="28"/>
                      <a:pt x="17" y="27"/>
                    </a:cubicBezTo>
                    <a:cubicBezTo>
                      <a:pt x="19" y="26"/>
                      <a:pt x="19" y="24"/>
                      <a:pt x="19" y="17"/>
                    </a:cubicBezTo>
                    <a:cubicBezTo>
                      <a:pt x="19" y="11"/>
                      <a:pt x="19" y="9"/>
                      <a:pt x="17" y="8"/>
                    </a:cubicBez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16"/>
              <p:cNvSpPr>
                <a:spLocks noEditPoints="1"/>
              </p:cNvSpPr>
              <p:nvPr userDrawn="1"/>
            </p:nvSpPr>
            <p:spPr bwMode="auto">
              <a:xfrm>
                <a:off x="4941" y="3962"/>
                <a:ext cx="33" cy="44"/>
              </a:xfrm>
              <a:custGeom>
                <a:avLst/>
                <a:gdLst>
                  <a:gd name="T0" fmla="*/ 15 w 26"/>
                  <a:gd name="T1" fmla="*/ 35 h 35"/>
                  <a:gd name="T2" fmla="*/ 0 w 26"/>
                  <a:gd name="T3" fmla="*/ 35 h 35"/>
                  <a:gd name="T4" fmla="*/ 0 w 26"/>
                  <a:gd name="T5" fmla="*/ 0 h 35"/>
                  <a:gd name="T6" fmla="*/ 14 w 26"/>
                  <a:gd name="T7" fmla="*/ 0 h 35"/>
                  <a:gd name="T8" fmla="*/ 25 w 26"/>
                  <a:gd name="T9" fmla="*/ 10 h 35"/>
                  <a:gd name="T10" fmla="*/ 21 w 26"/>
                  <a:gd name="T11" fmla="*/ 17 h 35"/>
                  <a:gd name="T12" fmla="*/ 26 w 26"/>
                  <a:gd name="T13" fmla="*/ 25 h 35"/>
                  <a:gd name="T14" fmla="*/ 15 w 26"/>
                  <a:gd name="T15" fmla="*/ 35 h 35"/>
                  <a:gd name="T16" fmla="*/ 14 w 26"/>
                  <a:gd name="T17" fmla="*/ 6 h 35"/>
                  <a:gd name="T18" fmla="*/ 7 w 26"/>
                  <a:gd name="T19" fmla="*/ 6 h 35"/>
                  <a:gd name="T20" fmla="*/ 7 w 26"/>
                  <a:gd name="T21" fmla="*/ 14 h 35"/>
                  <a:gd name="T22" fmla="*/ 14 w 26"/>
                  <a:gd name="T23" fmla="*/ 14 h 35"/>
                  <a:gd name="T24" fmla="*/ 18 w 26"/>
                  <a:gd name="T25" fmla="*/ 10 h 35"/>
                  <a:gd name="T26" fmla="*/ 14 w 26"/>
                  <a:gd name="T27" fmla="*/ 6 h 35"/>
                  <a:gd name="T28" fmla="*/ 14 w 26"/>
                  <a:gd name="T29" fmla="*/ 20 h 35"/>
                  <a:gd name="T30" fmla="*/ 7 w 26"/>
                  <a:gd name="T31" fmla="*/ 20 h 35"/>
                  <a:gd name="T32" fmla="*/ 7 w 26"/>
                  <a:gd name="T33" fmla="*/ 29 h 35"/>
                  <a:gd name="T34" fmla="*/ 14 w 26"/>
                  <a:gd name="T35" fmla="*/ 29 h 35"/>
                  <a:gd name="T36" fmla="*/ 19 w 26"/>
                  <a:gd name="T37" fmla="*/ 24 h 35"/>
                  <a:gd name="T38" fmla="*/ 14 w 26"/>
                  <a:gd name="T39" fmla="*/ 2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6" h="35">
                    <a:moveTo>
                      <a:pt x="15" y="35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1" y="0"/>
                      <a:pt x="25" y="4"/>
                      <a:pt x="25" y="10"/>
                    </a:cubicBezTo>
                    <a:cubicBezTo>
                      <a:pt x="25" y="14"/>
                      <a:pt x="23" y="16"/>
                      <a:pt x="21" y="17"/>
                    </a:cubicBezTo>
                    <a:cubicBezTo>
                      <a:pt x="23" y="18"/>
                      <a:pt x="26" y="20"/>
                      <a:pt x="26" y="25"/>
                    </a:cubicBezTo>
                    <a:cubicBezTo>
                      <a:pt x="26" y="31"/>
                      <a:pt x="21" y="35"/>
                      <a:pt x="15" y="35"/>
                    </a:cubicBezTo>
                    <a:close/>
                    <a:moveTo>
                      <a:pt x="14" y="6"/>
                    </a:moveTo>
                    <a:cubicBezTo>
                      <a:pt x="7" y="6"/>
                      <a:pt x="7" y="6"/>
                      <a:pt x="7" y="6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7" y="14"/>
                      <a:pt x="18" y="12"/>
                      <a:pt x="18" y="10"/>
                    </a:cubicBezTo>
                    <a:cubicBezTo>
                      <a:pt x="18" y="8"/>
                      <a:pt x="17" y="6"/>
                      <a:pt x="14" y="6"/>
                    </a:cubicBezTo>
                    <a:close/>
                    <a:moveTo>
                      <a:pt x="14" y="20"/>
                    </a:moveTo>
                    <a:cubicBezTo>
                      <a:pt x="7" y="20"/>
                      <a:pt x="7" y="20"/>
                      <a:pt x="7" y="20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7" y="29"/>
                      <a:pt x="19" y="27"/>
                      <a:pt x="19" y="24"/>
                    </a:cubicBezTo>
                    <a:cubicBezTo>
                      <a:pt x="19" y="22"/>
                      <a:pt x="17" y="20"/>
                      <a:pt x="14" y="20"/>
                    </a:cubicBez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Rectangle 17"/>
              <p:cNvSpPr>
                <a:spLocks noChangeArrowheads="1"/>
              </p:cNvSpPr>
              <p:nvPr userDrawn="1"/>
            </p:nvSpPr>
            <p:spPr bwMode="auto">
              <a:xfrm>
                <a:off x="4994" y="3962"/>
                <a:ext cx="9" cy="44"/>
              </a:xfrm>
              <a:prstGeom prst="rect">
                <a:avLst/>
              </a:pr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18"/>
              <p:cNvSpPr>
                <a:spLocks/>
              </p:cNvSpPr>
              <p:nvPr userDrawn="1"/>
            </p:nvSpPr>
            <p:spPr bwMode="auto">
              <a:xfrm>
                <a:off x="5025" y="3962"/>
                <a:ext cx="29" cy="44"/>
              </a:xfrm>
              <a:custGeom>
                <a:avLst/>
                <a:gdLst>
                  <a:gd name="T0" fmla="*/ 0 w 29"/>
                  <a:gd name="T1" fmla="*/ 44 h 44"/>
                  <a:gd name="T2" fmla="*/ 0 w 29"/>
                  <a:gd name="T3" fmla="*/ 0 h 44"/>
                  <a:gd name="T4" fmla="*/ 9 w 29"/>
                  <a:gd name="T5" fmla="*/ 0 h 44"/>
                  <a:gd name="T6" fmla="*/ 9 w 29"/>
                  <a:gd name="T7" fmla="*/ 36 h 44"/>
                  <a:gd name="T8" fmla="*/ 29 w 29"/>
                  <a:gd name="T9" fmla="*/ 36 h 44"/>
                  <a:gd name="T10" fmla="*/ 29 w 29"/>
                  <a:gd name="T11" fmla="*/ 44 h 44"/>
                  <a:gd name="T12" fmla="*/ 0 w 29"/>
                  <a:gd name="T13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44">
                    <a:moveTo>
                      <a:pt x="0" y="44"/>
                    </a:moveTo>
                    <a:lnTo>
                      <a:pt x="0" y="0"/>
                    </a:lnTo>
                    <a:lnTo>
                      <a:pt x="9" y="0"/>
                    </a:lnTo>
                    <a:lnTo>
                      <a:pt x="9" y="36"/>
                    </a:lnTo>
                    <a:lnTo>
                      <a:pt x="29" y="36"/>
                    </a:lnTo>
                    <a:lnTo>
                      <a:pt x="29" y="44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Freeform 19"/>
              <p:cNvSpPr>
                <a:spLocks/>
              </p:cNvSpPr>
              <p:nvPr userDrawn="1"/>
            </p:nvSpPr>
            <p:spPr bwMode="auto">
              <a:xfrm>
                <a:off x="5073" y="3962"/>
                <a:ext cx="29" cy="44"/>
              </a:xfrm>
              <a:custGeom>
                <a:avLst/>
                <a:gdLst>
                  <a:gd name="T0" fmla="*/ 0 w 29"/>
                  <a:gd name="T1" fmla="*/ 44 h 44"/>
                  <a:gd name="T2" fmla="*/ 0 w 29"/>
                  <a:gd name="T3" fmla="*/ 0 h 44"/>
                  <a:gd name="T4" fmla="*/ 29 w 29"/>
                  <a:gd name="T5" fmla="*/ 0 h 44"/>
                  <a:gd name="T6" fmla="*/ 29 w 29"/>
                  <a:gd name="T7" fmla="*/ 7 h 44"/>
                  <a:gd name="T8" fmla="*/ 9 w 29"/>
                  <a:gd name="T9" fmla="*/ 7 h 44"/>
                  <a:gd name="T10" fmla="*/ 9 w 29"/>
                  <a:gd name="T11" fmla="*/ 17 h 44"/>
                  <a:gd name="T12" fmla="*/ 27 w 29"/>
                  <a:gd name="T13" fmla="*/ 17 h 44"/>
                  <a:gd name="T14" fmla="*/ 27 w 29"/>
                  <a:gd name="T15" fmla="*/ 25 h 44"/>
                  <a:gd name="T16" fmla="*/ 9 w 29"/>
                  <a:gd name="T17" fmla="*/ 25 h 44"/>
                  <a:gd name="T18" fmla="*/ 9 w 29"/>
                  <a:gd name="T19" fmla="*/ 36 h 44"/>
                  <a:gd name="T20" fmla="*/ 29 w 29"/>
                  <a:gd name="T21" fmla="*/ 36 h 44"/>
                  <a:gd name="T22" fmla="*/ 29 w 29"/>
                  <a:gd name="T23" fmla="*/ 44 h 44"/>
                  <a:gd name="T24" fmla="*/ 0 w 29"/>
                  <a:gd name="T2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44">
                    <a:moveTo>
                      <a:pt x="0" y="44"/>
                    </a:moveTo>
                    <a:lnTo>
                      <a:pt x="0" y="0"/>
                    </a:lnTo>
                    <a:lnTo>
                      <a:pt x="29" y="0"/>
                    </a:lnTo>
                    <a:lnTo>
                      <a:pt x="29" y="7"/>
                    </a:lnTo>
                    <a:lnTo>
                      <a:pt x="9" y="7"/>
                    </a:lnTo>
                    <a:lnTo>
                      <a:pt x="9" y="17"/>
                    </a:lnTo>
                    <a:lnTo>
                      <a:pt x="27" y="17"/>
                    </a:lnTo>
                    <a:lnTo>
                      <a:pt x="27" y="25"/>
                    </a:lnTo>
                    <a:lnTo>
                      <a:pt x="9" y="25"/>
                    </a:lnTo>
                    <a:lnTo>
                      <a:pt x="9" y="36"/>
                    </a:lnTo>
                    <a:lnTo>
                      <a:pt x="29" y="36"/>
                    </a:lnTo>
                    <a:lnTo>
                      <a:pt x="29" y="44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Oval 20"/>
              <p:cNvSpPr>
                <a:spLocks noChangeArrowheads="1"/>
              </p:cNvSpPr>
              <p:nvPr userDrawn="1"/>
            </p:nvSpPr>
            <p:spPr bwMode="auto">
              <a:xfrm>
                <a:off x="5178" y="3968"/>
                <a:ext cx="24" cy="24"/>
              </a:xfrm>
              <a:prstGeom prst="ellipse">
                <a:avLst/>
              </a:prstGeom>
              <a:solidFill>
                <a:srgbClr val="E656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21"/>
              <p:cNvSpPr>
                <a:spLocks/>
              </p:cNvSpPr>
              <p:nvPr userDrawn="1"/>
            </p:nvSpPr>
            <p:spPr bwMode="auto">
              <a:xfrm>
                <a:off x="5280" y="3962"/>
                <a:ext cx="31" cy="44"/>
              </a:xfrm>
              <a:custGeom>
                <a:avLst/>
                <a:gdLst>
                  <a:gd name="T0" fmla="*/ 20 w 31"/>
                  <a:gd name="T1" fmla="*/ 7 h 44"/>
                  <a:gd name="T2" fmla="*/ 20 w 31"/>
                  <a:gd name="T3" fmla="*/ 44 h 44"/>
                  <a:gd name="T4" fmla="*/ 11 w 31"/>
                  <a:gd name="T5" fmla="*/ 44 h 44"/>
                  <a:gd name="T6" fmla="*/ 11 w 31"/>
                  <a:gd name="T7" fmla="*/ 7 h 44"/>
                  <a:gd name="T8" fmla="*/ 0 w 31"/>
                  <a:gd name="T9" fmla="*/ 7 h 44"/>
                  <a:gd name="T10" fmla="*/ 0 w 31"/>
                  <a:gd name="T11" fmla="*/ 0 h 44"/>
                  <a:gd name="T12" fmla="*/ 31 w 31"/>
                  <a:gd name="T13" fmla="*/ 0 h 44"/>
                  <a:gd name="T14" fmla="*/ 31 w 31"/>
                  <a:gd name="T15" fmla="*/ 7 h 44"/>
                  <a:gd name="T16" fmla="*/ 20 w 31"/>
                  <a:gd name="T17" fmla="*/ 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44">
                    <a:moveTo>
                      <a:pt x="20" y="7"/>
                    </a:moveTo>
                    <a:lnTo>
                      <a:pt x="20" y="44"/>
                    </a:lnTo>
                    <a:lnTo>
                      <a:pt x="11" y="44"/>
                    </a:lnTo>
                    <a:lnTo>
                      <a:pt x="11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31" y="0"/>
                    </a:lnTo>
                    <a:lnTo>
                      <a:pt x="31" y="7"/>
                    </a:lnTo>
                    <a:lnTo>
                      <a:pt x="20" y="7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22"/>
              <p:cNvSpPr>
                <a:spLocks/>
              </p:cNvSpPr>
              <p:nvPr userDrawn="1"/>
            </p:nvSpPr>
            <p:spPr bwMode="auto">
              <a:xfrm>
                <a:off x="5330" y="3962"/>
                <a:ext cx="32" cy="44"/>
              </a:xfrm>
              <a:custGeom>
                <a:avLst/>
                <a:gdLst>
                  <a:gd name="T0" fmla="*/ 25 w 32"/>
                  <a:gd name="T1" fmla="*/ 44 h 44"/>
                  <a:gd name="T2" fmla="*/ 25 w 32"/>
                  <a:gd name="T3" fmla="*/ 25 h 44"/>
                  <a:gd name="T4" fmla="*/ 9 w 32"/>
                  <a:gd name="T5" fmla="*/ 25 h 44"/>
                  <a:gd name="T6" fmla="*/ 9 w 32"/>
                  <a:gd name="T7" fmla="*/ 44 h 44"/>
                  <a:gd name="T8" fmla="*/ 0 w 32"/>
                  <a:gd name="T9" fmla="*/ 44 h 44"/>
                  <a:gd name="T10" fmla="*/ 0 w 32"/>
                  <a:gd name="T11" fmla="*/ 0 h 44"/>
                  <a:gd name="T12" fmla="*/ 9 w 32"/>
                  <a:gd name="T13" fmla="*/ 0 h 44"/>
                  <a:gd name="T14" fmla="*/ 9 w 32"/>
                  <a:gd name="T15" fmla="*/ 17 h 44"/>
                  <a:gd name="T16" fmla="*/ 25 w 32"/>
                  <a:gd name="T17" fmla="*/ 17 h 44"/>
                  <a:gd name="T18" fmla="*/ 25 w 32"/>
                  <a:gd name="T19" fmla="*/ 0 h 44"/>
                  <a:gd name="T20" fmla="*/ 32 w 32"/>
                  <a:gd name="T21" fmla="*/ 0 h 44"/>
                  <a:gd name="T22" fmla="*/ 32 w 32"/>
                  <a:gd name="T23" fmla="*/ 44 h 44"/>
                  <a:gd name="T24" fmla="*/ 25 w 32"/>
                  <a:gd name="T2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" h="44">
                    <a:moveTo>
                      <a:pt x="25" y="44"/>
                    </a:moveTo>
                    <a:lnTo>
                      <a:pt x="25" y="25"/>
                    </a:lnTo>
                    <a:lnTo>
                      <a:pt x="9" y="25"/>
                    </a:lnTo>
                    <a:lnTo>
                      <a:pt x="9" y="44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17"/>
                    </a:lnTo>
                    <a:lnTo>
                      <a:pt x="25" y="17"/>
                    </a:lnTo>
                    <a:lnTo>
                      <a:pt x="25" y="0"/>
                    </a:lnTo>
                    <a:lnTo>
                      <a:pt x="32" y="0"/>
                    </a:lnTo>
                    <a:lnTo>
                      <a:pt x="32" y="44"/>
                    </a:lnTo>
                    <a:lnTo>
                      <a:pt x="25" y="44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23"/>
              <p:cNvSpPr>
                <a:spLocks noEditPoints="1"/>
              </p:cNvSpPr>
              <p:nvPr userDrawn="1"/>
            </p:nvSpPr>
            <p:spPr bwMode="auto">
              <a:xfrm>
                <a:off x="5385" y="3962"/>
                <a:ext cx="33" cy="44"/>
              </a:xfrm>
              <a:custGeom>
                <a:avLst/>
                <a:gdLst>
                  <a:gd name="T0" fmla="*/ 18 w 26"/>
                  <a:gd name="T1" fmla="*/ 35 h 35"/>
                  <a:gd name="T2" fmla="*/ 12 w 26"/>
                  <a:gd name="T3" fmla="*/ 21 h 35"/>
                  <a:gd name="T4" fmla="*/ 7 w 26"/>
                  <a:gd name="T5" fmla="*/ 21 h 35"/>
                  <a:gd name="T6" fmla="*/ 7 w 26"/>
                  <a:gd name="T7" fmla="*/ 35 h 35"/>
                  <a:gd name="T8" fmla="*/ 0 w 26"/>
                  <a:gd name="T9" fmla="*/ 35 h 35"/>
                  <a:gd name="T10" fmla="*/ 0 w 26"/>
                  <a:gd name="T11" fmla="*/ 0 h 35"/>
                  <a:gd name="T12" fmla="*/ 14 w 26"/>
                  <a:gd name="T13" fmla="*/ 0 h 35"/>
                  <a:gd name="T14" fmla="*/ 25 w 26"/>
                  <a:gd name="T15" fmla="*/ 11 h 35"/>
                  <a:gd name="T16" fmla="*/ 19 w 26"/>
                  <a:gd name="T17" fmla="*/ 20 h 35"/>
                  <a:gd name="T18" fmla="*/ 26 w 26"/>
                  <a:gd name="T19" fmla="*/ 35 h 35"/>
                  <a:gd name="T20" fmla="*/ 18 w 26"/>
                  <a:gd name="T21" fmla="*/ 35 h 35"/>
                  <a:gd name="T22" fmla="*/ 13 w 26"/>
                  <a:gd name="T23" fmla="*/ 6 h 35"/>
                  <a:gd name="T24" fmla="*/ 7 w 26"/>
                  <a:gd name="T25" fmla="*/ 6 h 35"/>
                  <a:gd name="T26" fmla="*/ 7 w 26"/>
                  <a:gd name="T27" fmla="*/ 15 h 35"/>
                  <a:gd name="T28" fmla="*/ 13 w 26"/>
                  <a:gd name="T29" fmla="*/ 15 h 35"/>
                  <a:gd name="T30" fmla="*/ 18 w 26"/>
                  <a:gd name="T31" fmla="*/ 11 h 35"/>
                  <a:gd name="T32" fmla="*/ 13 w 26"/>
                  <a:gd name="T33" fmla="*/ 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6" h="35">
                    <a:moveTo>
                      <a:pt x="18" y="35"/>
                    </a:moveTo>
                    <a:cubicBezTo>
                      <a:pt x="12" y="21"/>
                      <a:pt x="12" y="21"/>
                      <a:pt x="12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1" y="0"/>
                      <a:pt x="25" y="5"/>
                      <a:pt x="25" y="11"/>
                    </a:cubicBezTo>
                    <a:cubicBezTo>
                      <a:pt x="25" y="15"/>
                      <a:pt x="22" y="18"/>
                      <a:pt x="19" y="20"/>
                    </a:cubicBezTo>
                    <a:cubicBezTo>
                      <a:pt x="26" y="35"/>
                      <a:pt x="26" y="35"/>
                      <a:pt x="26" y="35"/>
                    </a:cubicBezTo>
                    <a:lnTo>
                      <a:pt x="18" y="35"/>
                    </a:lnTo>
                    <a:close/>
                    <a:moveTo>
                      <a:pt x="13" y="6"/>
                    </a:moveTo>
                    <a:cubicBezTo>
                      <a:pt x="7" y="6"/>
                      <a:pt x="7" y="6"/>
                      <a:pt x="7" y="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6" y="15"/>
                      <a:pt x="18" y="13"/>
                      <a:pt x="18" y="11"/>
                    </a:cubicBezTo>
                    <a:cubicBezTo>
                      <a:pt x="18" y="8"/>
                      <a:pt x="16" y="6"/>
                      <a:pt x="13" y="6"/>
                    </a:cubicBez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24"/>
              <p:cNvSpPr>
                <a:spLocks/>
              </p:cNvSpPr>
              <p:nvPr userDrawn="1"/>
            </p:nvSpPr>
            <p:spPr bwMode="auto">
              <a:xfrm>
                <a:off x="5438" y="3962"/>
                <a:ext cx="29" cy="44"/>
              </a:xfrm>
              <a:custGeom>
                <a:avLst/>
                <a:gdLst>
                  <a:gd name="T0" fmla="*/ 0 w 29"/>
                  <a:gd name="T1" fmla="*/ 44 h 44"/>
                  <a:gd name="T2" fmla="*/ 0 w 29"/>
                  <a:gd name="T3" fmla="*/ 0 h 44"/>
                  <a:gd name="T4" fmla="*/ 29 w 29"/>
                  <a:gd name="T5" fmla="*/ 0 h 44"/>
                  <a:gd name="T6" fmla="*/ 29 w 29"/>
                  <a:gd name="T7" fmla="*/ 7 h 44"/>
                  <a:gd name="T8" fmla="*/ 9 w 29"/>
                  <a:gd name="T9" fmla="*/ 7 h 44"/>
                  <a:gd name="T10" fmla="*/ 9 w 29"/>
                  <a:gd name="T11" fmla="*/ 17 h 44"/>
                  <a:gd name="T12" fmla="*/ 26 w 29"/>
                  <a:gd name="T13" fmla="*/ 17 h 44"/>
                  <a:gd name="T14" fmla="*/ 26 w 29"/>
                  <a:gd name="T15" fmla="*/ 25 h 44"/>
                  <a:gd name="T16" fmla="*/ 9 w 29"/>
                  <a:gd name="T17" fmla="*/ 25 h 44"/>
                  <a:gd name="T18" fmla="*/ 9 w 29"/>
                  <a:gd name="T19" fmla="*/ 36 h 44"/>
                  <a:gd name="T20" fmla="*/ 29 w 29"/>
                  <a:gd name="T21" fmla="*/ 36 h 44"/>
                  <a:gd name="T22" fmla="*/ 29 w 29"/>
                  <a:gd name="T23" fmla="*/ 44 h 44"/>
                  <a:gd name="T24" fmla="*/ 0 w 29"/>
                  <a:gd name="T2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44">
                    <a:moveTo>
                      <a:pt x="0" y="44"/>
                    </a:moveTo>
                    <a:lnTo>
                      <a:pt x="0" y="0"/>
                    </a:lnTo>
                    <a:lnTo>
                      <a:pt x="29" y="0"/>
                    </a:lnTo>
                    <a:lnTo>
                      <a:pt x="29" y="7"/>
                    </a:lnTo>
                    <a:lnTo>
                      <a:pt x="9" y="7"/>
                    </a:lnTo>
                    <a:lnTo>
                      <a:pt x="9" y="17"/>
                    </a:lnTo>
                    <a:lnTo>
                      <a:pt x="26" y="17"/>
                    </a:lnTo>
                    <a:lnTo>
                      <a:pt x="26" y="25"/>
                    </a:lnTo>
                    <a:lnTo>
                      <a:pt x="9" y="25"/>
                    </a:lnTo>
                    <a:lnTo>
                      <a:pt x="9" y="36"/>
                    </a:lnTo>
                    <a:lnTo>
                      <a:pt x="29" y="36"/>
                    </a:lnTo>
                    <a:lnTo>
                      <a:pt x="29" y="44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25"/>
              <p:cNvSpPr>
                <a:spLocks noEditPoints="1"/>
              </p:cNvSpPr>
              <p:nvPr userDrawn="1"/>
            </p:nvSpPr>
            <p:spPr bwMode="auto">
              <a:xfrm>
                <a:off x="5485" y="3962"/>
                <a:ext cx="38" cy="44"/>
              </a:xfrm>
              <a:custGeom>
                <a:avLst/>
                <a:gdLst>
                  <a:gd name="T0" fmla="*/ 29 w 38"/>
                  <a:gd name="T1" fmla="*/ 44 h 44"/>
                  <a:gd name="T2" fmla="*/ 27 w 38"/>
                  <a:gd name="T3" fmla="*/ 36 h 44"/>
                  <a:gd name="T4" fmla="*/ 12 w 38"/>
                  <a:gd name="T5" fmla="*/ 36 h 44"/>
                  <a:gd name="T6" fmla="*/ 9 w 38"/>
                  <a:gd name="T7" fmla="*/ 44 h 44"/>
                  <a:gd name="T8" fmla="*/ 0 w 38"/>
                  <a:gd name="T9" fmla="*/ 44 h 44"/>
                  <a:gd name="T10" fmla="*/ 15 w 38"/>
                  <a:gd name="T11" fmla="*/ 0 h 44"/>
                  <a:gd name="T12" fmla="*/ 23 w 38"/>
                  <a:gd name="T13" fmla="*/ 0 h 44"/>
                  <a:gd name="T14" fmla="*/ 38 w 38"/>
                  <a:gd name="T15" fmla="*/ 44 h 44"/>
                  <a:gd name="T16" fmla="*/ 29 w 38"/>
                  <a:gd name="T17" fmla="*/ 44 h 44"/>
                  <a:gd name="T18" fmla="*/ 19 w 38"/>
                  <a:gd name="T19" fmla="*/ 12 h 44"/>
                  <a:gd name="T20" fmla="*/ 14 w 38"/>
                  <a:gd name="T21" fmla="*/ 29 h 44"/>
                  <a:gd name="T22" fmla="*/ 24 w 38"/>
                  <a:gd name="T23" fmla="*/ 29 h 44"/>
                  <a:gd name="T24" fmla="*/ 19 w 38"/>
                  <a:gd name="T25" fmla="*/ 1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8" h="44">
                    <a:moveTo>
                      <a:pt x="29" y="44"/>
                    </a:moveTo>
                    <a:lnTo>
                      <a:pt x="27" y="36"/>
                    </a:lnTo>
                    <a:lnTo>
                      <a:pt x="12" y="36"/>
                    </a:lnTo>
                    <a:lnTo>
                      <a:pt x="9" y="44"/>
                    </a:lnTo>
                    <a:lnTo>
                      <a:pt x="0" y="44"/>
                    </a:lnTo>
                    <a:lnTo>
                      <a:pt x="15" y="0"/>
                    </a:lnTo>
                    <a:lnTo>
                      <a:pt x="23" y="0"/>
                    </a:lnTo>
                    <a:lnTo>
                      <a:pt x="38" y="44"/>
                    </a:lnTo>
                    <a:lnTo>
                      <a:pt x="29" y="44"/>
                    </a:lnTo>
                    <a:close/>
                    <a:moveTo>
                      <a:pt x="19" y="12"/>
                    </a:moveTo>
                    <a:lnTo>
                      <a:pt x="14" y="29"/>
                    </a:lnTo>
                    <a:lnTo>
                      <a:pt x="24" y="29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26"/>
              <p:cNvSpPr>
                <a:spLocks/>
              </p:cNvSpPr>
              <p:nvPr userDrawn="1"/>
            </p:nvSpPr>
            <p:spPr bwMode="auto">
              <a:xfrm>
                <a:off x="5535" y="3962"/>
                <a:ext cx="31" cy="44"/>
              </a:xfrm>
              <a:custGeom>
                <a:avLst/>
                <a:gdLst>
                  <a:gd name="T0" fmla="*/ 20 w 31"/>
                  <a:gd name="T1" fmla="*/ 7 h 44"/>
                  <a:gd name="T2" fmla="*/ 20 w 31"/>
                  <a:gd name="T3" fmla="*/ 44 h 44"/>
                  <a:gd name="T4" fmla="*/ 11 w 31"/>
                  <a:gd name="T5" fmla="*/ 44 h 44"/>
                  <a:gd name="T6" fmla="*/ 11 w 31"/>
                  <a:gd name="T7" fmla="*/ 7 h 44"/>
                  <a:gd name="T8" fmla="*/ 0 w 31"/>
                  <a:gd name="T9" fmla="*/ 7 h 44"/>
                  <a:gd name="T10" fmla="*/ 0 w 31"/>
                  <a:gd name="T11" fmla="*/ 0 h 44"/>
                  <a:gd name="T12" fmla="*/ 31 w 31"/>
                  <a:gd name="T13" fmla="*/ 0 h 44"/>
                  <a:gd name="T14" fmla="*/ 31 w 31"/>
                  <a:gd name="T15" fmla="*/ 7 h 44"/>
                  <a:gd name="T16" fmla="*/ 20 w 31"/>
                  <a:gd name="T17" fmla="*/ 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44">
                    <a:moveTo>
                      <a:pt x="20" y="7"/>
                    </a:moveTo>
                    <a:lnTo>
                      <a:pt x="20" y="44"/>
                    </a:lnTo>
                    <a:lnTo>
                      <a:pt x="11" y="44"/>
                    </a:lnTo>
                    <a:lnTo>
                      <a:pt x="11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31" y="0"/>
                    </a:lnTo>
                    <a:lnTo>
                      <a:pt x="31" y="7"/>
                    </a:lnTo>
                    <a:lnTo>
                      <a:pt x="20" y="7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27"/>
              <p:cNvSpPr>
                <a:spLocks noEditPoints="1"/>
              </p:cNvSpPr>
              <p:nvPr userDrawn="1"/>
            </p:nvSpPr>
            <p:spPr bwMode="auto">
              <a:xfrm>
                <a:off x="5613" y="3962"/>
                <a:ext cx="32" cy="44"/>
              </a:xfrm>
              <a:custGeom>
                <a:avLst/>
                <a:gdLst>
                  <a:gd name="T0" fmla="*/ 13 w 25"/>
                  <a:gd name="T1" fmla="*/ 22 h 35"/>
                  <a:gd name="T2" fmla="*/ 6 w 25"/>
                  <a:gd name="T3" fmla="*/ 22 h 35"/>
                  <a:gd name="T4" fmla="*/ 6 w 25"/>
                  <a:gd name="T5" fmla="*/ 35 h 35"/>
                  <a:gd name="T6" fmla="*/ 0 w 25"/>
                  <a:gd name="T7" fmla="*/ 35 h 35"/>
                  <a:gd name="T8" fmla="*/ 0 w 25"/>
                  <a:gd name="T9" fmla="*/ 0 h 35"/>
                  <a:gd name="T10" fmla="*/ 13 w 25"/>
                  <a:gd name="T11" fmla="*/ 0 h 35"/>
                  <a:gd name="T12" fmla="*/ 25 w 25"/>
                  <a:gd name="T13" fmla="*/ 11 h 35"/>
                  <a:gd name="T14" fmla="*/ 13 w 25"/>
                  <a:gd name="T15" fmla="*/ 22 h 35"/>
                  <a:gd name="T16" fmla="*/ 13 w 25"/>
                  <a:gd name="T17" fmla="*/ 6 h 35"/>
                  <a:gd name="T18" fmla="*/ 6 w 25"/>
                  <a:gd name="T19" fmla="*/ 6 h 35"/>
                  <a:gd name="T20" fmla="*/ 6 w 25"/>
                  <a:gd name="T21" fmla="*/ 15 h 35"/>
                  <a:gd name="T22" fmla="*/ 13 w 25"/>
                  <a:gd name="T23" fmla="*/ 15 h 35"/>
                  <a:gd name="T24" fmla="*/ 18 w 25"/>
                  <a:gd name="T25" fmla="*/ 11 h 35"/>
                  <a:gd name="T26" fmla="*/ 13 w 25"/>
                  <a:gd name="T27" fmla="*/ 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5" h="35">
                    <a:moveTo>
                      <a:pt x="13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20" y="0"/>
                      <a:pt x="25" y="5"/>
                      <a:pt x="25" y="11"/>
                    </a:cubicBezTo>
                    <a:cubicBezTo>
                      <a:pt x="25" y="17"/>
                      <a:pt x="20" y="22"/>
                      <a:pt x="13" y="22"/>
                    </a:cubicBezTo>
                    <a:close/>
                    <a:moveTo>
                      <a:pt x="13" y="6"/>
                    </a:moveTo>
                    <a:cubicBezTo>
                      <a:pt x="6" y="6"/>
                      <a:pt x="6" y="6"/>
                      <a:pt x="6" y="6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6" y="15"/>
                      <a:pt x="18" y="14"/>
                      <a:pt x="18" y="11"/>
                    </a:cubicBezTo>
                    <a:cubicBezTo>
                      <a:pt x="18" y="8"/>
                      <a:pt x="16" y="6"/>
                      <a:pt x="13" y="6"/>
                    </a:cubicBez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Freeform 28"/>
              <p:cNvSpPr>
                <a:spLocks noEditPoints="1"/>
              </p:cNvSpPr>
              <p:nvPr userDrawn="1"/>
            </p:nvSpPr>
            <p:spPr bwMode="auto">
              <a:xfrm>
                <a:off x="5664" y="3962"/>
                <a:ext cx="33" cy="44"/>
              </a:xfrm>
              <a:custGeom>
                <a:avLst/>
                <a:gdLst>
                  <a:gd name="T0" fmla="*/ 18 w 26"/>
                  <a:gd name="T1" fmla="*/ 35 h 35"/>
                  <a:gd name="T2" fmla="*/ 12 w 26"/>
                  <a:gd name="T3" fmla="*/ 21 h 35"/>
                  <a:gd name="T4" fmla="*/ 7 w 26"/>
                  <a:gd name="T5" fmla="*/ 21 h 35"/>
                  <a:gd name="T6" fmla="*/ 7 w 26"/>
                  <a:gd name="T7" fmla="*/ 35 h 35"/>
                  <a:gd name="T8" fmla="*/ 0 w 26"/>
                  <a:gd name="T9" fmla="*/ 35 h 35"/>
                  <a:gd name="T10" fmla="*/ 0 w 26"/>
                  <a:gd name="T11" fmla="*/ 0 h 35"/>
                  <a:gd name="T12" fmla="*/ 14 w 26"/>
                  <a:gd name="T13" fmla="*/ 0 h 35"/>
                  <a:gd name="T14" fmla="*/ 25 w 26"/>
                  <a:gd name="T15" fmla="*/ 11 h 35"/>
                  <a:gd name="T16" fmla="*/ 19 w 26"/>
                  <a:gd name="T17" fmla="*/ 20 h 35"/>
                  <a:gd name="T18" fmla="*/ 26 w 26"/>
                  <a:gd name="T19" fmla="*/ 35 h 35"/>
                  <a:gd name="T20" fmla="*/ 18 w 26"/>
                  <a:gd name="T21" fmla="*/ 35 h 35"/>
                  <a:gd name="T22" fmla="*/ 13 w 26"/>
                  <a:gd name="T23" fmla="*/ 6 h 35"/>
                  <a:gd name="T24" fmla="*/ 7 w 26"/>
                  <a:gd name="T25" fmla="*/ 6 h 35"/>
                  <a:gd name="T26" fmla="*/ 7 w 26"/>
                  <a:gd name="T27" fmla="*/ 15 h 35"/>
                  <a:gd name="T28" fmla="*/ 13 w 26"/>
                  <a:gd name="T29" fmla="*/ 15 h 35"/>
                  <a:gd name="T30" fmla="*/ 18 w 26"/>
                  <a:gd name="T31" fmla="*/ 11 h 35"/>
                  <a:gd name="T32" fmla="*/ 13 w 26"/>
                  <a:gd name="T33" fmla="*/ 6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6" h="35">
                    <a:moveTo>
                      <a:pt x="18" y="35"/>
                    </a:moveTo>
                    <a:cubicBezTo>
                      <a:pt x="12" y="21"/>
                      <a:pt x="12" y="21"/>
                      <a:pt x="12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21" y="0"/>
                      <a:pt x="25" y="5"/>
                      <a:pt x="25" y="11"/>
                    </a:cubicBezTo>
                    <a:cubicBezTo>
                      <a:pt x="25" y="15"/>
                      <a:pt x="22" y="18"/>
                      <a:pt x="19" y="20"/>
                    </a:cubicBezTo>
                    <a:cubicBezTo>
                      <a:pt x="26" y="35"/>
                      <a:pt x="26" y="35"/>
                      <a:pt x="26" y="35"/>
                    </a:cubicBezTo>
                    <a:lnTo>
                      <a:pt x="18" y="35"/>
                    </a:lnTo>
                    <a:close/>
                    <a:moveTo>
                      <a:pt x="13" y="6"/>
                    </a:moveTo>
                    <a:cubicBezTo>
                      <a:pt x="7" y="6"/>
                      <a:pt x="7" y="6"/>
                      <a:pt x="7" y="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6" y="15"/>
                      <a:pt x="18" y="13"/>
                      <a:pt x="18" y="11"/>
                    </a:cubicBezTo>
                    <a:cubicBezTo>
                      <a:pt x="18" y="8"/>
                      <a:pt x="16" y="6"/>
                      <a:pt x="13" y="6"/>
                    </a:cubicBez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Freeform 29"/>
              <p:cNvSpPr>
                <a:spLocks/>
              </p:cNvSpPr>
              <p:nvPr userDrawn="1"/>
            </p:nvSpPr>
            <p:spPr bwMode="auto">
              <a:xfrm>
                <a:off x="5717" y="3962"/>
                <a:ext cx="29" cy="44"/>
              </a:xfrm>
              <a:custGeom>
                <a:avLst/>
                <a:gdLst>
                  <a:gd name="T0" fmla="*/ 0 w 29"/>
                  <a:gd name="T1" fmla="*/ 44 h 44"/>
                  <a:gd name="T2" fmla="*/ 0 w 29"/>
                  <a:gd name="T3" fmla="*/ 0 h 44"/>
                  <a:gd name="T4" fmla="*/ 29 w 29"/>
                  <a:gd name="T5" fmla="*/ 0 h 44"/>
                  <a:gd name="T6" fmla="*/ 29 w 29"/>
                  <a:gd name="T7" fmla="*/ 7 h 44"/>
                  <a:gd name="T8" fmla="*/ 9 w 29"/>
                  <a:gd name="T9" fmla="*/ 7 h 44"/>
                  <a:gd name="T10" fmla="*/ 9 w 29"/>
                  <a:gd name="T11" fmla="*/ 17 h 44"/>
                  <a:gd name="T12" fmla="*/ 26 w 29"/>
                  <a:gd name="T13" fmla="*/ 17 h 44"/>
                  <a:gd name="T14" fmla="*/ 26 w 29"/>
                  <a:gd name="T15" fmla="*/ 25 h 44"/>
                  <a:gd name="T16" fmla="*/ 9 w 29"/>
                  <a:gd name="T17" fmla="*/ 25 h 44"/>
                  <a:gd name="T18" fmla="*/ 9 w 29"/>
                  <a:gd name="T19" fmla="*/ 36 h 44"/>
                  <a:gd name="T20" fmla="*/ 29 w 29"/>
                  <a:gd name="T21" fmla="*/ 36 h 44"/>
                  <a:gd name="T22" fmla="*/ 29 w 29"/>
                  <a:gd name="T23" fmla="*/ 44 h 44"/>
                  <a:gd name="T24" fmla="*/ 0 w 29"/>
                  <a:gd name="T2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44">
                    <a:moveTo>
                      <a:pt x="0" y="44"/>
                    </a:moveTo>
                    <a:lnTo>
                      <a:pt x="0" y="0"/>
                    </a:lnTo>
                    <a:lnTo>
                      <a:pt x="29" y="0"/>
                    </a:lnTo>
                    <a:lnTo>
                      <a:pt x="29" y="7"/>
                    </a:lnTo>
                    <a:lnTo>
                      <a:pt x="9" y="7"/>
                    </a:lnTo>
                    <a:lnTo>
                      <a:pt x="9" y="17"/>
                    </a:lnTo>
                    <a:lnTo>
                      <a:pt x="26" y="17"/>
                    </a:lnTo>
                    <a:lnTo>
                      <a:pt x="26" y="25"/>
                    </a:lnTo>
                    <a:lnTo>
                      <a:pt x="9" y="25"/>
                    </a:lnTo>
                    <a:lnTo>
                      <a:pt x="9" y="36"/>
                    </a:lnTo>
                    <a:lnTo>
                      <a:pt x="29" y="36"/>
                    </a:lnTo>
                    <a:lnTo>
                      <a:pt x="29" y="44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30"/>
              <p:cNvSpPr>
                <a:spLocks/>
              </p:cNvSpPr>
              <p:nvPr userDrawn="1"/>
            </p:nvSpPr>
            <p:spPr bwMode="auto">
              <a:xfrm>
                <a:off x="5764" y="3962"/>
                <a:ext cx="36" cy="44"/>
              </a:xfrm>
              <a:custGeom>
                <a:avLst/>
                <a:gdLst>
                  <a:gd name="T0" fmla="*/ 20 w 36"/>
                  <a:gd name="T1" fmla="*/ 44 h 44"/>
                  <a:gd name="T2" fmla="*/ 14 w 36"/>
                  <a:gd name="T3" fmla="*/ 44 h 44"/>
                  <a:gd name="T4" fmla="*/ 0 w 36"/>
                  <a:gd name="T5" fmla="*/ 0 h 44"/>
                  <a:gd name="T6" fmla="*/ 9 w 36"/>
                  <a:gd name="T7" fmla="*/ 0 h 44"/>
                  <a:gd name="T8" fmla="*/ 18 w 36"/>
                  <a:gd name="T9" fmla="*/ 29 h 44"/>
                  <a:gd name="T10" fmla="*/ 27 w 36"/>
                  <a:gd name="T11" fmla="*/ 0 h 44"/>
                  <a:gd name="T12" fmla="*/ 36 w 36"/>
                  <a:gd name="T13" fmla="*/ 0 h 44"/>
                  <a:gd name="T14" fmla="*/ 20 w 36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" h="44">
                    <a:moveTo>
                      <a:pt x="20" y="44"/>
                    </a:moveTo>
                    <a:lnTo>
                      <a:pt x="14" y="4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18" y="29"/>
                    </a:lnTo>
                    <a:lnTo>
                      <a:pt x="27" y="0"/>
                    </a:lnTo>
                    <a:lnTo>
                      <a:pt x="36" y="0"/>
                    </a:lnTo>
                    <a:lnTo>
                      <a:pt x="20" y="44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Freeform 31"/>
              <p:cNvSpPr>
                <a:spLocks/>
              </p:cNvSpPr>
              <p:nvPr userDrawn="1"/>
            </p:nvSpPr>
            <p:spPr bwMode="auto">
              <a:xfrm>
                <a:off x="5817" y="3962"/>
                <a:ext cx="29" cy="44"/>
              </a:xfrm>
              <a:custGeom>
                <a:avLst/>
                <a:gdLst>
                  <a:gd name="T0" fmla="*/ 0 w 29"/>
                  <a:gd name="T1" fmla="*/ 44 h 44"/>
                  <a:gd name="T2" fmla="*/ 0 w 29"/>
                  <a:gd name="T3" fmla="*/ 0 h 44"/>
                  <a:gd name="T4" fmla="*/ 29 w 29"/>
                  <a:gd name="T5" fmla="*/ 0 h 44"/>
                  <a:gd name="T6" fmla="*/ 29 w 29"/>
                  <a:gd name="T7" fmla="*/ 7 h 44"/>
                  <a:gd name="T8" fmla="*/ 9 w 29"/>
                  <a:gd name="T9" fmla="*/ 7 h 44"/>
                  <a:gd name="T10" fmla="*/ 9 w 29"/>
                  <a:gd name="T11" fmla="*/ 17 h 44"/>
                  <a:gd name="T12" fmla="*/ 27 w 29"/>
                  <a:gd name="T13" fmla="*/ 17 h 44"/>
                  <a:gd name="T14" fmla="*/ 27 w 29"/>
                  <a:gd name="T15" fmla="*/ 25 h 44"/>
                  <a:gd name="T16" fmla="*/ 9 w 29"/>
                  <a:gd name="T17" fmla="*/ 25 h 44"/>
                  <a:gd name="T18" fmla="*/ 9 w 29"/>
                  <a:gd name="T19" fmla="*/ 36 h 44"/>
                  <a:gd name="T20" fmla="*/ 29 w 29"/>
                  <a:gd name="T21" fmla="*/ 36 h 44"/>
                  <a:gd name="T22" fmla="*/ 29 w 29"/>
                  <a:gd name="T23" fmla="*/ 44 h 44"/>
                  <a:gd name="T24" fmla="*/ 0 w 29"/>
                  <a:gd name="T2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44">
                    <a:moveTo>
                      <a:pt x="0" y="44"/>
                    </a:moveTo>
                    <a:lnTo>
                      <a:pt x="0" y="0"/>
                    </a:lnTo>
                    <a:lnTo>
                      <a:pt x="29" y="0"/>
                    </a:lnTo>
                    <a:lnTo>
                      <a:pt x="29" y="7"/>
                    </a:lnTo>
                    <a:lnTo>
                      <a:pt x="9" y="7"/>
                    </a:lnTo>
                    <a:lnTo>
                      <a:pt x="9" y="17"/>
                    </a:lnTo>
                    <a:lnTo>
                      <a:pt x="27" y="17"/>
                    </a:lnTo>
                    <a:lnTo>
                      <a:pt x="27" y="25"/>
                    </a:lnTo>
                    <a:lnTo>
                      <a:pt x="9" y="25"/>
                    </a:lnTo>
                    <a:lnTo>
                      <a:pt x="9" y="36"/>
                    </a:lnTo>
                    <a:lnTo>
                      <a:pt x="29" y="36"/>
                    </a:lnTo>
                    <a:lnTo>
                      <a:pt x="29" y="44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Freeform 32"/>
              <p:cNvSpPr>
                <a:spLocks/>
              </p:cNvSpPr>
              <p:nvPr userDrawn="1"/>
            </p:nvSpPr>
            <p:spPr bwMode="auto">
              <a:xfrm>
                <a:off x="5868" y="3962"/>
                <a:ext cx="33" cy="44"/>
              </a:xfrm>
              <a:custGeom>
                <a:avLst/>
                <a:gdLst>
                  <a:gd name="T0" fmla="*/ 25 w 33"/>
                  <a:gd name="T1" fmla="*/ 44 h 44"/>
                  <a:gd name="T2" fmla="*/ 8 w 33"/>
                  <a:gd name="T3" fmla="*/ 16 h 44"/>
                  <a:gd name="T4" fmla="*/ 8 w 33"/>
                  <a:gd name="T5" fmla="*/ 44 h 44"/>
                  <a:gd name="T6" fmla="*/ 0 w 33"/>
                  <a:gd name="T7" fmla="*/ 44 h 44"/>
                  <a:gd name="T8" fmla="*/ 0 w 33"/>
                  <a:gd name="T9" fmla="*/ 0 h 44"/>
                  <a:gd name="T10" fmla="*/ 8 w 33"/>
                  <a:gd name="T11" fmla="*/ 0 h 44"/>
                  <a:gd name="T12" fmla="*/ 24 w 33"/>
                  <a:gd name="T13" fmla="*/ 26 h 44"/>
                  <a:gd name="T14" fmla="*/ 24 w 33"/>
                  <a:gd name="T15" fmla="*/ 0 h 44"/>
                  <a:gd name="T16" fmla="*/ 33 w 33"/>
                  <a:gd name="T17" fmla="*/ 0 h 44"/>
                  <a:gd name="T18" fmla="*/ 33 w 33"/>
                  <a:gd name="T19" fmla="*/ 44 h 44"/>
                  <a:gd name="T20" fmla="*/ 25 w 33"/>
                  <a:gd name="T21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3" h="44">
                    <a:moveTo>
                      <a:pt x="25" y="44"/>
                    </a:moveTo>
                    <a:lnTo>
                      <a:pt x="8" y="16"/>
                    </a:lnTo>
                    <a:lnTo>
                      <a:pt x="8" y="44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4" y="26"/>
                    </a:lnTo>
                    <a:lnTo>
                      <a:pt x="24" y="0"/>
                    </a:lnTo>
                    <a:lnTo>
                      <a:pt x="33" y="0"/>
                    </a:lnTo>
                    <a:lnTo>
                      <a:pt x="33" y="44"/>
                    </a:lnTo>
                    <a:lnTo>
                      <a:pt x="25" y="44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Freeform 33"/>
              <p:cNvSpPr>
                <a:spLocks/>
              </p:cNvSpPr>
              <p:nvPr userDrawn="1"/>
            </p:nvSpPr>
            <p:spPr bwMode="auto">
              <a:xfrm>
                <a:off x="5920" y="3962"/>
                <a:ext cx="32" cy="44"/>
              </a:xfrm>
              <a:custGeom>
                <a:avLst/>
                <a:gdLst>
                  <a:gd name="T0" fmla="*/ 20 w 32"/>
                  <a:gd name="T1" fmla="*/ 7 h 44"/>
                  <a:gd name="T2" fmla="*/ 20 w 32"/>
                  <a:gd name="T3" fmla="*/ 44 h 44"/>
                  <a:gd name="T4" fmla="*/ 13 w 32"/>
                  <a:gd name="T5" fmla="*/ 44 h 44"/>
                  <a:gd name="T6" fmla="*/ 13 w 32"/>
                  <a:gd name="T7" fmla="*/ 7 h 44"/>
                  <a:gd name="T8" fmla="*/ 0 w 32"/>
                  <a:gd name="T9" fmla="*/ 7 h 44"/>
                  <a:gd name="T10" fmla="*/ 0 w 32"/>
                  <a:gd name="T11" fmla="*/ 0 h 44"/>
                  <a:gd name="T12" fmla="*/ 32 w 32"/>
                  <a:gd name="T13" fmla="*/ 0 h 44"/>
                  <a:gd name="T14" fmla="*/ 32 w 32"/>
                  <a:gd name="T15" fmla="*/ 7 h 44"/>
                  <a:gd name="T16" fmla="*/ 20 w 32"/>
                  <a:gd name="T17" fmla="*/ 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44">
                    <a:moveTo>
                      <a:pt x="20" y="7"/>
                    </a:moveTo>
                    <a:lnTo>
                      <a:pt x="20" y="44"/>
                    </a:lnTo>
                    <a:lnTo>
                      <a:pt x="13" y="44"/>
                    </a:lnTo>
                    <a:lnTo>
                      <a:pt x="13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32" y="0"/>
                    </a:lnTo>
                    <a:lnTo>
                      <a:pt x="32" y="7"/>
                    </a:lnTo>
                    <a:lnTo>
                      <a:pt x="20" y="7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Rectangle 34"/>
              <p:cNvSpPr>
                <a:spLocks noChangeArrowheads="1"/>
              </p:cNvSpPr>
              <p:nvPr userDrawn="1"/>
            </p:nvSpPr>
            <p:spPr bwMode="auto">
              <a:xfrm>
                <a:off x="5972" y="3962"/>
                <a:ext cx="9" cy="44"/>
              </a:xfrm>
              <a:prstGeom prst="rect">
                <a:avLst/>
              </a:pr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35"/>
              <p:cNvSpPr>
                <a:spLocks noEditPoints="1"/>
              </p:cNvSpPr>
              <p:nvPr userDrawn="1"/>
            </p:nvSpPr>
            <p:spPr bwMode="auto">
              <a:xfrm>
                <a:off x="6001" y="3962"/>
                <a:ext cx="33" cy="44"/>
              </a:xfrm>
              <a:custGeom>
                <a:avLst/>
                <a:gdLst>
                  <a:gd name="T0" fmla="*/ 22 w 26"/>
                  <a:gd name="T1" fmla="*/ 31 h 35"/>
                  <a:gd name="T2" fmla="*/ 13 w 26"/>
                  <a:gd name="T3" fmla="*/ 35 h 35"/>
                  <a:gd name="T4" fmla="*/ 4 w 26"/>
                  <a:gd name="T5" fmla="*/ 31 h 35"/>
                  <a:gd name="T6" fmla="*/ 0 w 26"/>
                  <a:gd name="T7" fmla="*/ 17 h 35"/>
                  <a:gd name="T8" fmla="*/ 4 w 26"/>
                  <a:gd name="T9" fmla="*/ 3 h 35"/>
                  <a:gd name="T10" fmla="*/ 13 w 26"/>
                  <a:gd name="T11" fmla="*/ 0 h 35"/>
                  <a:gd name="T12" fmla="*/ 22 w 26"/>
                  <a:gd name="T13" fmla="*/ 3 h 35"/>
                  <a:gd name="T14" fmla="*/ 26 w 26"/>
                  <a:gd name="T15" fmla="*/ 17 h 35"/>
                  <a:gd name="T16" fmla="*/ 22 w 26"/>
                  <a:gd name="T17" fmla="*/ 31 h 35"/>
                  <a:gd name="T18" fmla="*/ 17 w 26"/>
                  <a:gd name="T19" fmla="*/ 8 h 35"/>
                  <a:gd name="T20" fmla="*/ 13 w 26"/>
                  <a:gd name="T21" fmla="*/ 6 h 35"/>
                  <a:gd name="T22" fmla="*/ 9 w 26"/>
                  <a:gd name="T23" fmla="*/ 8 h 35"/>
                  <a:gd name="T24" fmla="*/ 7 w 26"/>
                  <a:gd name="T25" fmla="*/ 17 h 35"/>
                  <a:gd name="T26" fmla="*/ 9 w 26"/>
                  <a:gd name="T27" fmla="*/ 27 h 35"/>
                  <a:gd name="T28" fmla="*/ 13 w 26"/>
                  <a:gd name="T29" fmla="*/ 29 h 35"/>
                  <a:gd name="T30" fmla="*/ 17 w 26"/>
                  <a:gd name="T31" fmla="*/ 27 h 35"/>
                  <a:gd name="T32" fmla="*/ 19 w 26"/>
                  <a:gd name="T33" fmla="*/ 17 h 35"/>
                  <a:gd name="T34" fmla="*/ 17 w 26"/>
                  <a:gd name="T35" fmla="*/ 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35">
                    <a:moveTo>
                      <a:pt x="22" y="31"/>
                    </a:moveTo>
                    <a:cubicBezTo>
                      <a:pt x="20" y="34"/>
                      <a:pt x="17" y="35"/>
                      <a:pt x="13" y="35"/>
                    </a:cubicBezTo>
                    <a:cubicBezTo>
                      <a:pt x="9" y="35"/>
                      <a:pt x="6" y="34"/>
                      <a:pt x="4" y="31"/>
                    </a:cubicBezTo>
                    <a:cubicBezTo>
                      <a:pt x="0" y="28"/>
                      <a:pt x="0" y="24"/>
                      <a:pt x="0" y="17"/>
                    </a:cubicBezTo>
                    <a:cubicBezTo>
                      <a:pt x="0" y="11"/>
                      <a:pt x="0" y="7"/>
                      <a:pt x="4" y="3"/>
                    </a:cubicBezTo>
                    <a:cubicBezTo>
                      <a:pt x="6" y="1"/>
                      <a:pt x="9" y="0"/>
                      <a:pt x="13" y="0"/>
                    </a:cubicBezTo>
                    <a:cubicBezTo>
                      <a:pt x="17" y="0"/>
                      <a:pt x="20" y="1"/>
                      <a:pt x="22" y="3"/>
                    </a:cubicBezTo>
                    <a:cubicBezTo>
                      <a:pt x="26" y="7"/>
                      <a:pt x="26" y="11"/>
                      <a:pt x="26" y="17"/>
                    </a:cubicBezTo>
                    <a:cubicBezTo>
                      <a:pt x="26" y="24"/>
                      <a:pt x="26" y="28"/>
                      <a:pt x="22" y="31"/>
                    </a:cubicBezTo>
                    <a:close/>
                    <a:moveTo>
                      <a:pt x="17" y="8"/>
                    </a:moveTo>
                    <a:cubicBezTo>
                      <a:pt x="16" y="6"/>
                      <a:pt x="15" y="6"/>
                      <a:pt x="13" y="6"/>
                    </a:cubicBezTo>
                    <a:cubicBezTo>
                      <a:pt x="11" y="6"/>
                      <a:pt x="10" y="6"/>
                      <a:pt x="9" y="8"/>
                    </a:cubicBezTo>
                    <a:cubicBezTo>
                      <a:pt x="7" y="9"/>
                      <a:pt x="7" y="11"/>
                      <a:pt x="7" y="17"/>
                    </a:cubicBezTo>
                    <a:cubicBezTo>
                      <a:pt x="7" y="24"/>
                      <a:pt x="7" y="26"/>
                      <a:pt x="9" y="27"/>
                    </a:cubicBezTo>
                    <a:cubicBezTo>
                      <a:pt x="10" y="28"/>
                      <a:pt x="11" y="29"/>
                      <a:pt x="13" y="29"/>
                    </a:cubicBezTo>
                    <a:cubicBezTo>
                      <a:pt x="15" y="29"/>
                      <a:pt x="16" y="28"/>
                      <a:pt x="17" y="27"/>
                    </a:cubicBezTo>
                    <a:cubicBezTo>
                      <a:pt x="19" y="26"/>
                      <a:pt x="19" y="24"/>
                      <a:pt x="19" y="17"/>
                    </a:cubicBezTo>
                    <a:cubicBezTo>
                      <a:pt x="19" y="11"/>
                      <a:pt x="19" y="9"/>
                      <a:pt x="17" y="8"/>
                    </a:cubicBez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36"/>
              <p:cNvSpPr>
                <a:spLocks/>
              </p:cNvSpPr>
              <p:nvPr userDrawn="1"/>
            </p:nvSpPr>
            <p:spPr bwMode="auto">
              <a:xfrm>
                <a:off x="6054" y="3962"/>
                <a:ext cx="35" cy="44"/>
              </a:xfrm>
              <a:custGeom>
                <a:avLst/>
                <a:gdLst>
                  <a:gd name="T0" fmla="*/ 27 w 35"/>
                  <a:gd name="T1" fmla="*/ 44 h 44"/>
                  <a:gd name="T2" fmla="*/ 9 w 35"/>
                  <a:gd name="T3" fmla="*/ 16 h 44"/>
                  <a:gd name="T4" fmla="*/ 9 w 35"/>
                  <a:gd name="T5" fmla="*/ 44 h 44"/>
                  <a:gd name="T6" fmla="*/ 0 w 35"/>
                  <a:gd name="T7" fmla="*/ 44 h 44"/>
                  <a:gd name="T8" fmla="*/ 0 w 35"/>
                  <a:gd name="T9" fmla="*/ 0 h 44"/>
                  <a:gd name="T10" fmla="*/ 9 w 35"/>
                  <a:gd name="T11" fmla="*/ 0 h 44"/>
                  <a:gd name="T12" fmla="*/ 26 w 35"/>
                  <a:gd name="T13" fmla="*/ 26 h 44"/>
                  <a:gd name="T14" fmla="*/ 26 w 35"/>
                  <a:gd name="T15" fmla="*/ 0 h 44"/>
                  <a:gd name="T16" fmla="*/ 35 w 35"/>
                  <a:gd name="T17" fmla="*/ 0 h 44"/>
                  <a:gd name="T18" fmla="*/ 35 w 35"/>
                  <a:gd name="T19" fmla="*/ 44 h 44"/>
                  <a:gd name="T20" fmla="*/ 27 w 35"/>
                  <a:gd name="T21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" h="44">
                    <a:moveTo>
                      <a:pt x="27" y="44"/>
                    </a:moveTo>
                    <a:lnTo>
                      <a:pt x="9" y="16"/>
                    </a:lnTo>
                    <a:lnTo>
                      <a:pt x="9" y="44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6" y="26"/>
                    </a:lnTo>
                    <a:lnTo>
                      <a:pt x="26" y="0"/>
                    </a:lnTo>
                    <a:lnTo>
                      <a:pt x="35" y="0"/>
                    </a:lnTo>
                    <a:lnTo>
                      <a:pt x="35" y="44"/>
                    </a:lnTo>
                    <a:lnTo>
                      <a:pt x="27" y="44"/>
                    </a:lnTo>
                    <a:close/>
                  </a:path>
                </a:pathLst>
              </a:custGeom>
              <a:solidFill>
                <a:srgbClr val="0606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35" name="Group 134"/>
            <p:cNvGrpSpPr/>
            <p:nvPr userDrawn="1"/>
          </p:nvGrpSpPr>
          <p:grpSpPr>
            <a:xfrm>
              <a:off x="9140479" y="5882283"/>
              <a:ext cx="1508125" cy="269875"/>
              <a:chOff x="9145588" y="5880100"/>
              <a:chExt cx="1508125" cy="269875"/>
            </a:xfrm>
          </p:grpSpPr>
          <p:sp>
            <p:nvSpPr>
              <p:cNvPr id="136" name="AutoShape 39"/>
              <p:cNvSpPr>
                <a:spLocks noChangeAspect="1" noChangeArrowheads="1" noTextEdit="1"/>
              </p:cNvSpPr>
              <p:nvPr userDrawn="1"/>
            </p:nvSpPr>
            <p:spPr bwMode="auto">
              <a:xfrm>
                <a:off x="9145588" y="5880100"/>
                <a:ext cx="1508125" cy="269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50"/>
              <p:cNvSpPr>
                <a:spLocks/>
              </p:cNvSpPr>
              <p:nvPr userDrawn="1"/>
            </p:nvSpPr>
            <p:spPr bwMode="auto">
              <a:xfrm>
                <a:off x="9983788" y="5880100"/>
                <a:ext cx="33338" cy="71438"/>
              </a:xfrm>
              <a:custGeom>
                <a:avLst/>
                <a:gdLst>
                  <a:gd name="T0" fmla="*/ 85 w 101"/>
                  <a:gd name="T1" fmla="*/ 204 h 215"/>
                  <a:gd name="T2" fmla="*/ 52 w 101"/>
                  <a:gd name="T3" fmla="*/ 215 h 215"/>
                  <a:gd name="T4" fmla="*/ 16 w 101"/>
                  <a:gd name="T5" fmla="*/ 200 h 215"/>
                  <a:gd name="T6" fmla="*/ 0 w 101"/>
                  <a:gd name="T7" fmla="*/ 108 h 215"/>
                  <a:gd name="T8" fmla="*/ 16 w 101"/>
                  <a:gd name="T9" fmla="*/ 15 h 215"/>
                  <a:gd name="T10" fmla="*/ 52 w 101"/>
                  <a:gd name="T11" fmla="*/ 0 h 215"/>
                  <a:gd name="T12" fmla="*/ 85 w 101"/>
                  <a:gd name="T13" fmla="*/ 12 h 215"/>
                  <a:gd name="T14" fmla="*/ 101 w 101"/>
                  <a:gd name="T15" fmla="*/ 54 h 215"/>
                  <a:gd name="T16" fmla="*/ 75 w 101"/>
                  <a:gd name="T17" fmla="*/ 54 h 215"/>
                  <a:gd name="T18" fmla="*/ 69 w 101"/>
                  <a:gd name="T19" fmla="*/ 30 h 215"/>
                  <a:gd name="T20" fmla="*/ 52 w 101"/>
                  <a:gd name="T21" fmla="*/ 23 h 215"/>
                  <a:gd name="T22" fmla="*/ 35 w 101"/>
                  <a:gd name="T23" fmla="*/ 31 h 215"/>
                  <a:gd name="T24" fmla="*/ 26 w 101"/>
                  <a:gd name="T25" fmla="*/ 108 h 215"/>
                  <a:gd name="T26" fmla="*/ 35 w 101"/>
                  <a:gd name="T27" fmla="*/ 185 h 215"/>
                  <a:gd name="T28" fmla="*/ 52 w 101"/>
                  <a:gd name="T29" fmla="*/ 193 h 215"/>
                  <a:gd name="T30" fmla="*/ 69 w 101"/>
                  <a:gd name="T31" fmla="*/ 185 h 215"/>
                  <a:gd name="T32" fmla="*/ 75 w 101"/>
                  <a:gd name="T33" fmla="*/ 161 h 215"/>
                  <a:gd name="T34" fmla="*/ 101 w 101"/>
                  <a:gd name="T35" fmla="*/ 161 h 215"/>
                  <a:gd name="T36" fmla="*/ 85 w 101"/>
                  <a:gd name="T37" fmla="*/ 204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1" h="215">
                    <a:moveTo>
                      <a:pt x="85" y="204"/>
                    </a:moveTo>
                    <a:cubicBezTo>
                      <a:pt x="76" y="211"/>
                      <a:pt x="66" y="215"/>
                      <a:pt x="52" y="215"/>
                    </a:cubicBezTo>
                    <a:cubicBezTo>
                      <a:pt x="35" y="215"/>
                      <a:pt x="24" y="209"/>
                      <a:pt x="16" y="200"/>
                    </a:cubicBezTo>
                    <a:cubicBezTo>
                      <a:pt x="2" y="184"/>
                      <a:pt x="0" y="166"/>
                      <a:pt x="0" y="108"/>
                    </a:cubicBezTo>
                    <a:cubicBezTo>
                      <a:pt x="0" y="49"/>
                      <a:pt x="2" y="31"/>
                      <a:pt x="16" y="15"/>
                    </a:cubicBezTo>
                    <a:cubicBezTo>
                      <a:pt x="24" y="6"/>
                      <a:pt x="35" y="0"/>
                      <a:pt x="52" y="0"/>
                    </a:cubicBezTo>
                    <a:cubicBezTo>
                      <a:pt x="67" y="0"/>
                      <a:pt x="77" y="4"/>
                      <a:pt x="85" y="12"/>
                    </a:cubicBezTo>
                    <a:cubicBezTo>
                      <a:pt x="95" y="22"/>
                      <a:pt x="100" y="37"/>
                      <a:pt x="101" y="54"/>
                    </a:cubicBezTo>
                    <a:cubicBezTo>
                      <a:pt x="75" y="54"/>
                      <a:pt x="75" y="54"/>
                      <a:pt x="75" y="54"/>
                    </a:cubicBezTo>
                    <a:cubicBezTo>
                      <a:pt x="75" y="45"/>
                      <a:pt x="74" y="36"/>
                      <a:pt x="69" y="30"/>
                    </a:cubicBezTo>
                    <a:cubicBezTo>
                      <a:pt x="65" y="26"/>
                      <a:pt x="60" y="23"/>
                      <a:pt x="52" y="23"/>
                    </a:cubicBezTo>
                    <a:cubicBezTo>
                      <a:pt x="44" y="23"/>
                      <a:pt x="38" y="26"/>
                      <a:pt x="35" y="31"/>
                    </a:cubicBezTo>
                    <a:cubicBezTo>
                      <a:pt x="27" y="41"/>
                      <a:pt x="26" y="58"/>
                      <a:pt x="26" y="108"/>
                    </a:cubicBezTo>
                    <a:cubicBezTo>
                      <a:pt x="26" y="158"/>
                      <a:pt x="27" y="175"/>
                      <a:pt x="35" y="185"/>
                    </a:cubicBezTo>
                    <a:cubicBezTo>
                      <a:pt x="38" y="189"/>
                      <a:pt x="44" y="193"/>
                      <a:pt x="52" y="193"/>
                    </a:cubicBezTo>
                    <a:cubicBezTo>
                      <a:pt x="60" y="193"/>
                      <a:pt x="65" y="189"/>
                      <a:pt x="69" y="185"/>
                    </a:cubicBezTo>
                    <a:cubicBezTo>
                      <a:pt x="73" y="179"/>
                      <a:pt x="75" y="170"/>
                      <a:pt x="75" y="161"/>
                    </a:cubicBezTo>
                    <a:cubicBezTo>
                      <a:pt x="101" y="161"/>
                      <a:pt x="101" y="161"/>
                      <a:pt x="101" y="161"/>
                    </a:cubicBezTo>
                    <a:cubicBezTo>
                      <a:pt x="100" y="179"/>
                      <a:pt x="95" y="194"/>
                      <a:pt x="85" y="204"/>
                    </a:cubicBezTo>
                    <a:close/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51"/>
              <p:cNvSpPr>
                <a:spLocks/>
              </p:cNvSpPr>
              <p:nvPr userDrawn="1"/>
            </p:nvSpPr>
            <p:spPr bwMode="auto">
              <a:xfrm>
                <a:off x="10039351" y="5881688"/>
                <a:ext cx="31750" cy="68263"/>
              </a:xfrm>
              <a:custGeom>
                <a:avLst/>
                <a:gdLst>
                  <a:gd name="T0" fmla="*/ 14 w 20"/>
                  <a:gd name="T1" fmla="*/ 43 h 43"/>
                  <a:gd name="T2" fmla="*/ 14 w 20"/>
                  <a:gd name="T3" fmla="*/ 23 h 43"/>
                  <a:gd name="T4" fmla="*/ 5 w 20"/>
                  <a:gd name="T5" fmla="*/ 23 h 43"/>
                  <a:gd name="T6" fmla="*/ 5 w 20"/>
                  <a:gd name="T7" fmla="*/ 43 h 43"/>
                  <a:gd name="T8" fmla="*/ 0 w 20"/>
                  <a:gd name="T9" fmla="*/ 43 h 43"/>
                  <a:gd name="T10" fmla="*/ 0 w 20"/>
                  <a:gd name="T11" fmla="*/ 0 h 43"/>
                  <a:gd name="T12" fmla="*/ 5 w 20"/>
                  <a:gd name="T13" fmla="*/ 0 h 43"/>
                  <a:gd name="T14" fmla="*/ 5 w 20"/>
                  <a:gd name="T15" fmla="*/ 19 h 43"/>
                  <a:gd name="T16" fmla="*/ 14 w 20"/>
                  <a:gd name="T17" fmla="*/ 19 h 43"/>
                  <a:gd name="T18" fmla="*/ 14 w 20"/>
                  <a:gd name="T19" fmla="*/ 0 h 43"/>
                  <a:gd name="T20" fmla="*/ 20 w 20"/>
                  <a:gd name="T21" fmla="*/ 0 h 43"/>
                  <a:gd name="T22" fmla="*/ 20 w 20"/>
                  <a:gd name="T23" fmla="*/ 43 h 43"/>
                  <a:gd name="T24" fmla="*/ 14 w 20"/>
                  <a:gd name="T2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43">
                    <a:moveTo>
                      <a:pt x="14" y="43"/>
                    </a:moveTo>
                    <a:lnTo>
                      <a:pt x="14" y="23"/>
                    </a:lnTo>
                    <a:lnTo>
                      <a:pt x="5" y="23"/>
                    </a:lnTo>
                    <a:lnTo>
                      <a:pt x="5" y="43"/>
                    </a:lnTo>
                    <a:lnTo>
                      <a:pt x="0" y="43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5" y="19"/>
                    </a:lnTo>
                    <a:lnTo>
                      <a:pt x="14" y="19"/>
                    </a:lnTo>
                    <a:lnTo>
                      <a:pt x="14" y="0"/>
                    </a:lnTo>
                    <a:lnTo>
                      <a:pt x="20" y="0"/>
                    </a:lnTo>
                    <a:lnTo>
                      <a:pt x="20" y="43"/>
                    </a:lnTo>
                    <a:lnTo>
                      <a:pt x="14" y="43"/>
                    </a:lnTo>
                    <a:close/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52"/>
              <p:cNvSpPr>
                <a:spLocks/>
              </p:cNvSpPr>
              <p:nvPr userDrawn="1"/>
            </p:nvSpPr>
            <p:spPr bwMode="auto">
              <a:xfrm>
                <a:off x="10093326" y="5881688"/>
                <a:ext cx="26988" cy="68263"/>
              </a:xfrm>
              <a:custGeom>
                <a:avLst/>
                <a:gdLst>
                  <a:gd name="T0" fmla="*/ 0 w 17"/>
                  <a:gd name="T1" fmla="*/ 43 h 43"/>
                  <a:gd name="T2" fmla="*/ 0 w 17"/>
                  <a:gd name="T3" fmla="*/ 0 h 43"/>
                  <a:gd name="T4" fmla="*/ 17 w 17"/>
                  <a:gd name="T5" fmla="*/ 0 h 43"/>
                  <a:gd name="T6" fmla="*/ 17 w 17"/>
                  <a:gd name="T7" fmla="*/ 4 h 43"/>
                  <a:gd name="T8" fmla="*/ 6 w 17"/>
                  <a:gd name="T9" fmla="*/ 4 h 43"/>
                  <a:gd name="T10" fmla="*/ 6 w 17"/>
                  <a:gd name="T11" fmla="*/ 19 h 43"/>
                  <a:gd name="T12" fmla="*/ 16 w 17"/>
                  <a:gd name="T13" fmla="*/ 19 h 43"/>
                  <a:gd name="T14" fmla="*/ 16 w 17"/>
                  <a:gd name="T15" fmla="*/ 24 h 43"/>
                  <a:gd name="T16" fmla="*/ 6 w 17"/>
                  <a:gd name="T17" fmla="*/ 24 h 43"/>
                  <a:gd name="T18" fmla="*/ 6 w 17"/>
                  <a:gd name="T19" fmla="*/ 38 h 43"/>
                  <a:gd name="T20" fmla="*/ 17 w 17"/>
                  <a:gd name="T21" fmla="*/ 38 h 43"/>
                  <a:gd name="T22" fmla="*/ 17 w 17"/>
                  <a:gd name="T23" fmla="*/ 43 h 43"/>
                  <a:gd name="T24" fmla="*/ 0 w 17"/>
                  <a:gd name="T2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" h="43">
                    <a:moveTo>
                      <a:pt x="0" y="43"/>
                    </a:moveTo>
                    <a:lnTo>
                      <a:pt x="0" y="0"/>
                    </a:lnTo>
                    <a:lnTo>
                      <a:pt x="17" y="0"/>
                    </a:lnTo>
                    <a:lnTo>
                      <a:pt x="17" y="4"/>
                    </a:lnTo>
                    <a:lnTo>
                      <a:pt x="6" y="4"/>
                    </a:lnTo>
                    <a:lnTo>
                      <a:pt x="6" y="19"/>
                    </a:lnTo>
                    <a:lnTo>
                      <a:pt x="16" y="19"/>
                    </a:lnTo>
                    <a:lnTo>
                      <a:pt x="16" y="24"/>
                    </a:lnTo>
                    <a:lnTo>
                      <a:pt x="6" y="24"/>
                    </a:lnTo>
                    <a:lnTo>
                      <a:pt x="6" y="38"/>
                    </a:lnTo>
                    <a:lnTo>
                      <a:pt x="17" y="38"/>
                    </a:lnTo>
                    <a:lnTo>
                      <a:pt x="17" y="43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53"/>
              <p:cNvSpPr>
                <a:spLocks/>
              </p:cNvSpPr>
              <p:nvPr userDrawn="1"/>
            </p:nvSpPr>
            <p:spPr bwMode="auto">
              <a:xfrm>
                <a:off x="10140951" y="5880100"/>
                <a:ext cx="31750" cy="71438"/>
              </a:xfrm>
              <a:custGeom>
                <a:avLst/>
                <a:gdLst>
                  <a:gd name="T0" fmla="*/ 84 w 100"/>
                  <a:gd name="T1" fmla="*/ 204 h 215"/>
                  <a:gd name="T2" fmla="*/ 52 w 100"/>
                  <a:gd name="T3" fmla="*/ 215 h 215"/>
                  <a:gd name="T4" fmla="*/ 16 w 100"/>
                  <a:gd name="T5" fmla="*/ 200 h 215"/>
                  <a:gd name="T6" fmla="*/ 0 w 100"/>
                  <a:gd name="T7" fmla="*/ 108 h 215"/>
                  <a:gd name="T8" fmla="*/ 16 w 100"/>
                  <a:gd name="T9" fmla="*/ 15 h 215"/>
                  <a:gd name="T10" fmla="*/ 52 w 100"/>
                  <a:gd name="T11" fmla="*/ 0 h 215"/>
                  <a:gd name="T12" fmla="*/ 85 w 100"/>
                  <a:gd name="T13" fmla="*/ 12 h 215"/>
                  <a:gd name="T14" fmla="*/ 100 w 100"/>
                  <a:gd name="T15" fmla="*/ 54 h 215"/>
                  <a:gd name="T16" fmla="*/ 75 w 100"/>
                  <a:gd name="T17" fmla="*/ 54 h 215"/>
                  <a:gd name="T18" fmla="*/ 68 w 100"/>
                  <a:gd name="T19" fmla="*/ 30 h 215"/>
                  <a:gd name="T20" fmla="*/ 52 w 100"/>
                  <a:gd name="T21" fmla="*/ 23 h 215"/>
                  <a:gd name="T22" fmla="*/ 34 w 100"/>
                  <a:gd name="T23" fmla="*/ 31 h 215"/>
                  <a:gd name="T24" fmla="*/ 26 w 100"/>
                  <a:gd name="T25" fmla="*/ 108 h 215"/>
                  <a:gd name="T26" fmla="*/ 34 w 100"/>
                  <a:gd name="T27" fmla="*/ 185 h 215"/>
                  <a:gd name="T28" fmla="*/ 52 w 100"/>
                  <a:gd name="T29" fmla="*/ 193 h 215"/>
                  <a:gd name="T30" fmla="*/ 68 w 100"/>
                  <a:gd name="T31" fmla="*/ 185 h 215"/>
                  <a:gd name="T32" fmla="*/ 75 w 100"/>
                  <a:gd name="T33" fmla="*/ 161 h 215"/>
                  <a:gd name="T34" fmla="*/ 100 w 100"/>
                  <a:gd name="T35" fmla="*/ 161 h 215"/>
                  <a:gd name="T36" fmla="*/ 84 w 100"/>
                  <a:gd name="T37" fmla="*/ 204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215">
                    <a:moveTo>
                      <a:pt x="84" y="204"/>
                    </a:moveTo>
                    <a:cubicBezTo>
                      <a:pt x="76" y="211"/>
                      <a:pt x="66" y="215"/>
                      <a:pt x="52" y="215"/>
                    </a:cubicBezTo>
                    <a:cubicBezTo>
                      <a:pt x="35" y="215"/>
                      <a:pt x="24" y="209"/>
                      <a:pt x="16" y="200"/>
                    </a:cubicBezTo>
                    <a:cubicBezTo>
                      <a:pt x="2" y="184"/>
                      <a:pt x="0" y="166"/>
                      <a:pt x="0" y="108"/>
                    </a:cubicBezTo>
                    <a:cubicBezTo>
                      <a:pt x="0" y="49"/>
                      <a:pt x="2" y="31"/>
                      <a:pt x="16" y="15"/>
                    </a:cubicBezTo>
                    <a:cubicBezTo>
                      <a:pt x="24" y="6"/>
                      <a:pt x="35" y="0"/>
                      <a:pt x="52" y="0"/>
                    </a:cubicBezTo>
                    <a:cubicBezTo>
                      <a:pt x="66" y="0"/>
                      <a:pt x="77" y="4"/>
                      <a:pt x="85" y="12"/>
                    </a:cubicBezTo>
                    <a:cubicBezTo>
                      <a:pt x="95" y="22"/>
                      <a:pt x="100" y="37"/>
                      <a:pt x="100" y="54"/>
                    </a:cubicBezTo>
                    <a:cubicBezTo>
                      <a:pt x="75" y="54"/>
                      <a:pt x="75" y="54"/>
                      <a:pt x="75" y="54"/>
                    </a:cubicBezTo>
                    <a:cubicBezTo>
                      <a:pt x="75" y="45"/>
                      <a:pt x="73" y="36"/>
                      <a:pt x="68" y="30"/>
                    </a:cubicBezTo>
                    <a:cubicBezTo>
                      <a:pt x="65" y="26"/>
                      <a:pt x="60" y="23"/>
                      <a:pt x="52" y="23"/>
                    </a:cubicBezTo>
                    <a:cubicBezTo>
                      <a:pt x="43" y="23"/>
                      <a:pt x="38" y="26"/>
                      <a:pt x="34" y="31"/>
                    </a:cubicBezTo>
                    <a:cubicBezTo>
                      <a:pt x="27" y="41"/>
                      <a:pt x="26" y="58"/>
                      <a:pt x="26" y="108"/>
                    </a:cubicBezTo>
                    <a:cubicBezTo>
                      <a:pt x="26" y="158"/>
                      <a:pt x="27" y="175"/>
                      <a:pt x="34" y="185"/>
                    </a:cubicBezTo>
                    <a:cubicBezTo>
                      <a:pt x="38" y="189"/>
                      <a:pt x="43" y="193"/>
                      <a:pt x="52" y="193"/>
                    </a:cubicBezTo>
                    <a:cubicBezTo>
                      <a:pt x="60" y="193"/>
                      <a:pt x="65" y="189"/>
                      <a:pt x="68" y="185"/>
                    </a:cubicBezTo>
                    <a:cubicBezTo>
                      <a:pt x="73" y="179"/>
                      <a:pt x="75" y="170"/>
                      <a:pt x="75" y="161"/>
                    </a:cubicBezTo>
                    <a:cubicBezTo>
                      <a:pt x="100" y="161"/>
                      <a:pt x="100" y="161"/>
                      <a:pt x="100" y="161"/>
                    </a:cubicBezTo>
                    <a:cubicBezTo>
                      <a:pt x="100" y="179"/>
                      <a:pt x="95" y="194"/>
                      <a:pt x="84" y="204"/>
                    </a:cubicBezTo>
                    <a:close/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54"/>
              <p:cNvSpPr>
                <a:spLocks/>
              </p:cNvSpPr>
              <p:nvPr userDrawn="1"/>
            </p:nvSpPr>
            <p:spPr bwMode="auto">
              <a:xfrm>
                <a:off x="10194926" y="5881688"/>
                <a:ext cx="34925" cy="68263"/>
              </a:xfrm>
              <a:custGeom>
                <a:avLst/>
                <a:gdLst>
                  <a:gd name="T0" fmla="*/ 17 w 22"/>
                  <a:gd name="T1" fmla="*/ 43 h 43"/>
                  <a:gd name="T2" fmla="*/ 9 w 22"/>
                  <a:gd name="T3" fmla="*/ 24 h 43"/>
                  <a:gd name="T4" fmla="*/ 5 w 22"/>
                  <a:gd name="T5" fmla="*/ 31 h 43"/>
                  <a:gd name="T6" fmla="*/ 5 w 22"/>
                  <a:gd name="T7" fmla="*/ 43 h 43"/>
                  <a:gd name="T8" fmla="*/ 0 w 22"/>
                  <a:gd name="T9" fmla="*/ 43 h 43"/>
                  <a:gd name="T10" fmla="*/ 0 w 22"/>
                  <a:gd name="T11" fmla="*/ 0 h 43"/>
                  <a:gd name="T12" fmla="*/ 5 w 22"/>
                  <a:gd name="T13" fmla="*/ 0 h 43"/>
                  <a:gd name="T14" fmla="*/ 5 w 22"/>
                  <a:gd name="T15" fmla="*/ 22 h 43"/>
                  <a:gd name="T16" fmla="*/ 16 w 22"/>
                  <a:gd name="T17" fmla="*/ 0 h 43"/>
                  <a:gd name="T18" fmla="*/ 21 w 22"/>
                  <a:gd name="T19" fmla="*/ 0 h 43"/>
                  <a:gd name="T20" fmla="*/ 12 w 22"/>
                  <a:gd name="T21" fmla="*/ 18 h 43"/>
                  <a:gd name="T22" fmla="*/ 22 w 22"/>
                  <a:gd name="T23" fmla="*/ 43 h 43"/>
                  <a:gd name="T24" fmla="*/ 17 w 22"/>
                  <a:gd name="T2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" h="43">
                    <a:moveTo>
                      <a:pt x="17" y="43"/>
                    </a:moveTo>
                    <a:lnTo>
                      <a:pt x="9" y="24"/>
                    </a:lnTo>
                    <a:lnTo>
                      <a:pt x="5" y="31"/>
                    </a:lnTo>
                    <a:lnTo>
                      <a:pt x="5" y="43"/>
                    </a:lnTo>
                    <a:lnTo>
                      <a:pt x="0" y="43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5" y="22"/>
                    </a:lnTo>
                    <a:lnTo>
                      <a:pt x="16" y="0"/>
                    </a:lnTo>
                    <a:lnTo>
                      <a:pt x="21" y="0"/>
                    </a:lnTo>
                    <a:lnTo>
                      <a:pt x="12" y="18"/>
                    </a:lnTo>
                    <a:lnTo>
                      <a:pt x="22" y="43"/>
                    </a:lnTo>
                    <a:lnTo>
                      <a:pt x="17" y="43"/>
                    </a:lnTo>
                    <a:close/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55"/>
              <p:cNvSpPr>
                <a:spLocks noEditPoints="1"/>
              </p:cNvSpPr>
              <p:nvPr userDrawn="1"/>
            </p:nvSpPr>
            <p:spPr bwMode="auto">
              <a:xfrm>
                <a:off x="10283826" y="5881688"/>
                <a:ext cx="31750" cy="68263"/>
              </a:xfrm>
              <a:custGeom>
                <a:avLst/>
                <a:gdLst>
                  <a:gd name="T0" fmla="*/ 48 w 98"/>
                  <a:gd name="T1" fmla="*/ 123 h 211"/>
                  <a:gd name="T2" fmla="*/ 26 w 98"/>
                  <a:gd name="T3" fmla="*/ 123 h 211"/>
                  <a:gd name="T4" fmla="*/ 26 w 98"/>
                  <a:gd name="T5" fmla="*/ 211 h 211"/>
                  <a:gd name="T6" fmla="*/ 0 w 98"/>
                  <a:gd name="T7" fmla="*/ 211 h 211"/>
                  <a:gd name="T8" fmla="*/ 0 w 98"/>
                  <a:gd name="T9" fmla="*/ 0 h 211"/>
                  <a:gd name="T10" fmla="*/ 48 w 98"/>
                  <a:gd name="T11" fmla="*/ 0 h 211"/>
                  <a:gd name="T12" fmla="*/ 98 w 98"/>
                  <a:gd name="T13" fmla="*/ 62 h 211"/>
                  <a:gd name="T14" fmla="*/ 48 w 98"/>
                  <a:gd name="T15" fmla="*/ 123 h 211"/>
                  <a:gd name="T16" fmla="*/ 47 w 98"/>
                  <a:gd name="T17" fmla="*/ 23 h 211"/>
                  <a:gd name="T18" fmla="*/ 26 w 98"/>
                  <a:gd name="T19" fmla="*/ 23 h 211"/>
                  <a:gd name="T20" fmla="*/ 26 w 98"/>
                  <a:gd name="T21" fmla="*/ 100 h 211"/>
                  <a:gd name="T22" fmla="*/ 47 w 98"/>
                  <a:gd name="T23" fmla="*/ 100 h 211"/>
                  <a:gd name="T24" fmla="*/ 72 w 98"/>
                  <a:gd name="T25" fmla="*/ 62 h 211"/>
                  <a:gd name="T26" fmla="*/ 47 w 98"/>
                  <a:gd name="T27" fmla="*/ 23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211">
                    <a:moveTo>
                      <a:pt x="48" y="123"/>
                    </a:moveTo>
                    <a:cubicBezTo>
                      <a:pt x="26" y="123"/>
                      <a:pt x="26" y="123"/>
                      <a:pt x="26" y="123"/>
                    </a:cubicBezTo>
                    <a:cubicBezTo>
                      <a:pt x="26" y="211"/>
                      <a:pt x="26" y="211"/>
                      <a:pt x="26" y="211"/>
                    </a:cubicBezTo>
                    <a:cubicBezTo>
                      <a:pt x="0" y="211"/>
                      <a:pt x="0" y="211"/>
                      <a:pt x="0" y="21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79" y="0"/>
                      <a:pt x="98" y="15"/>
                      <a:pt x="98" y="62"/>
                    </a:cubicBezTo>
                    <a:cubicBezTo>
                      <a:pt x="98" y="108"/>
                      <a:pt x="79" y="123"/>
                      <a:pt x="48" y="123"/>
                    </a:cubicBezTo>
                    <a:close/>
                    <a:moveTo>
                      <a:pt x="47" y="23"/>
                    </a:move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100"/>
                      <a:pt x="26" y="100"/>
                      <a:pt x="26" y="100"/>
                    </a:cubicBezTo>
                    <a:cubicBezTo>
                      <a:pt x="47" y="100"/>
                      <a:pt x="47" y="100"/>
                      <a:pt x="47" y="100"/>
                    </a:cubicBezTo>
                    <a:cubicBezTo>
                      <a:pt x="64" y="100"/>
                      <a:pt x="72" y="90"/>
                      <a:pt x="72" y="62"/>
                    </a:cubicBezTo>
                    <a:cubicBezTo>
                      <a:pt x="72" y="33"/>
                      <a:pt x="64" y="23"/>
                      <a:pt x="47" y="23"/>
                    </a:cubicBezTo>
                    <a:close/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Freeform 56"/>
              <p:cNvSpPr>
                <a:spLocks noEditPoints="1"/>
              </p:cNvSpPr>
              <p:nvPr userDrawn="1"/>
            </p:nvSpPr>
            <p:spPr bwMode="auto">
              <a:xfrm>
                <a:off x="10336213" y="5880100"/>
                <a:ext cx="33338" cy="71438"/>
              </a:xfrm>
              <a:custGeom>
                <a:avLst/>
                <a:gdLst>
                  <a:gd name="T0" fmla="*/ 87 w 103"/>
                  <a:gd name="T1" fmla="*/ 200 h 215"/>
                  <a:gd name="T2" fmla="*/ 51 w 103"/>
                  <a:gd name="T3" fmla="*/ 215 h 215"/>
                  <a:gd name="T4" fmla="*/ 15 w 103"/>
                  <a:gd name="T5" fmla="*/ 200 h 215"/>
                  <a:gd name="T6" fmla="*/ 0 w 103"/>
                  <a:gd name="T7" fmla="*/ 108 h 215"/>
                  <a:gd name="T8" fmla="*/ 15 w 103"/>
                  <a:gd name="T9" fmla="*/ 15 h 215"/>
                  <a:gd name="T10" fmla="*/ 51 w 103"/>
                  <a:gd name="T11" fmla="*/ 0 h 215"/>
                  <a:gd name="T12" fmla="*/ 87 w 103"/>
                  <a:gd name="T13" fmla="*/ 15 h 215"/>
                  <a:gd name="T14" fmla="*/ 103 w 103"/>
                  <a:gd name="T15" fmla="*/ 108 h 215"/>
                  <a:gd name="T16" fmla="*/ 87 w 103"/>
                  <a:gd name="T17" fmla="*/ 200 h 215"/>
                  <a:gd name="T18" fmla="*/ 68 w 103"/>
                  <a:gd name="T19" fmla="*/ 31 h 215"/>
                  <a:gd name="T20" fmla="*/ 51 w 103"/>
                  <a:gd name="T21" fmla="*/ 23 h 215"/>
                  <a:gd name="T22" fmla="*/ 34 w 103"/>
                  <a:gd name="T23" fmla="*/ 31 h 215"/>
                  <a:gd name="T24" fmla="*/ 25 w 103"/>
                  <a:gd name="T25" fmla="*/ 108 h 215"/>
                  <a:gd name="T26" fmla="*/ 34 w 103"/>
                  <a:gd name="T27" fmla="*/ 185 h 215"/>
                  <a:gd name="T28" fmla="*/ 51 w 103"/>
                  <a:gd name="T29" fmla="*/ 193 h 215"/>
                  <a:gd name="T30" fmla="*/ 68 w 103"/>
                  <a:gd name="T31" fmla="*/ 185 h 215"/>
                  <a:gd name="T32" fmla="*/ 77 w 103"/>
                  <a:gd name="T33" fmla="*/ 108 h 215"/>
                  <a:gd name="T34" fmla="*/ 68 w 103"/>
                  <a:gd name="T35" fmla="*/ 31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3" h="215">
                    <a:moveTo>
                      <a:pt x="87" y="200"/>
                    </a:moveTo>
                    <a:cubicBezTo>
                      <a:pt x="79" y="209"/>
                      <a:pt x="68" y="215"/>
                      <a:pt x="51" y="215"/>
                    </a:cubicBezTo>
                    <a:cubicBezTo>
                      <a:pt x="35" y="215"/>
                      <a:pt x="23" y="209"/>
                      <a:pt x="15" y="200"/>
                    </a:cubicBezTo>
                    <a:cubicBezTo>
                      <a:pt x="1" y="185"/>
                      <a:pt x="0" y="166"/>
                      <a:pt x="0" y="108"/>
                    </a:cubicBezTo>
                    <a:cubicBezTo>
                      <a:pt x="0" y="49"/>
                      <a:pt x="1" y="30"/>
                      <a:pt x="15" y="15"/>
                    </a:cubicBezTo>
                    <a:cubicBezTo>
                      <a:pt x="23" y="6"/>
                      <a:pt x="35" y="0"/>
                      <a:pt x="51" y="0"/>
                    </a:cubicBezTo>
                    <a:cubicBezTo>
                      <a:pt x="68" y="0"/>
                      <a:pt x="79" y="6"/>
                      <a:pt x="87" y="15"/>
                    </a:cubicBezTo>
                    <a:cubicBezTo>
                      <a:pt x="101" y="30"/>
                      <a:pt x="103" y="49"/>
                      <a:pt x="103" y="108"/>
                    </a:cubicBezTo>
                    <a:cubicBezTo>
                      <a:pt x="103" y="166"/>
                      <a:pt x="101" y="185"/>
                      <a:pt x="87" y="200"/>
                    </a:cubicBezTo>
                    <a:close/>
                    <a:moveTo>
                      <a:pt x="68" y="31"/>
                    </a:moveTo>
                    <a:cubicBezTo>
                      <a:pt x="65" y="26"/>
                      <a:pt x="59" y="23"/>
                      <a:pt x="51" y="23"/>
                    </a:cubicBezTo>
                    <a:cubicBezTo>
                      <a:pt x="43" y="23"/>
                      <a:pt x="37" y="26"/>
                      <a:pt x="34" y="31"/>
                    </a:cubicBezTo>
                    <a:cubicBezTo>
                      <a:pt x="26" y="41"/>
                      <a:pt x="25" y="58"/>
                      <a:pt x="25" y="108"/>
                    </a:cubicBezTo>
                    <a:cubicBezTo>
                      <a:pt x="25" y="158"/>
                      <a:pt x="26" y="175"/>
                      <a:pt x="34" y="185"/>
                    </a:cubicBezTo>
                    <a:cubicBezTo>
                      <a:pt x="37" y="189"/>
                      <a:pt x="43" y="193"/>
                      <a:pt x="51" y="193"/>
                    </a:cubicBezTo>
                    <a:cubicBezTo>
                      <a:pt x="59" y="193"/>
                      <a:pt x="65" y="189"/>
                      <a:pt x="68" y="185"/>
                    </a:cubicBezTo>
                    <a:cubicBezTo>
                      <a:pt x="76" y="175"/>
                      <a:pt x="77" y="158"/>
                      <a:pt x="77" y="108"/>
                    </a:cubicBezTo>
                    <a:cubicBezTo>
                      <a:pt x="77" y="58"/>
                      <a:pt x="76" y="41"/>
                      <a:pt x="68" y="31"/>
                    </a:cubicBezTo>
                    <a:close/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Rectangle 57"/>
              <p:cNvSpPr>
                <a:spLocks noChangeArrowheads="1"/>
              </p:cNvSpPr>
              <p:nvPr userDrawn="1"/>
            </p:nvSpPr>
            <p:spPr bwMode="auto">
              <a:xfrm>
                <a:off x="10393363" y="5881688"/>
                <a:ext cx="7938" cy="68263"/>
              </a:xfrm>
              <a:prstGeom prst="rect">
                <a:avLst/>
              </a:pr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Freeform 58"/>
              <p:cNvSpPr>
                <a:spLocks/>
              </p:cNvSpPr>
              <p:nvPr userDrawn="1"/>
            </p:nvSpPr>
            <p:spPr bwMode="auto">
              <a:xfrm>
                <a:off x="10425113" y="5881688"/>
                <a:ext cx="33338" cy="68263"/>
              </a:xfrm>
              <a:custGeom>
                <a:avLst/>
                <a:gdLst>
                  <a:gd name="T0" fmla="*/ 16 w 21"/>
                  <a:gd name="T1" fmla="*/ 43 h 43"/>
                  <a:gd name="T2" fmla="*/ 5 w 21"/>
                  <a:gd name="T3" fmla="*/ 13 h 43"/>
                  <a:gd name="T4" fmla="*/ 5 w 21"/>
                  <a:gd name="T5" fmla="*/ 43 h 43"/>
                  <a:gd name="T6" fmla="*/ 0 w 21"/>
                  <a:gd name="T7" fmla="*/ 43 h 43"/>
                  <a:gd name="T8" fmla="*/ 0 w 21"/>
                  <a:gd name="T9" fmla="*/ 0 h 43"/>
                  <a:gd name="T10" fmla="*/ 5 w 21"/>
                  <a:gd name="T11" fmla="*/ 0 h 43"/>
                  <a:gd name="T12" fmla="*/ 16 w 21"/>
                  <a:gd name="T13" fmla="*/ 29 h 43"/>
                  <a:gd name="T14" fmla="*/ 16 w 21"/>
                  <a:gd name="T15" fmla="*/ 0 h 43"/>
                  <a:gd name="T16" fmla="*/ 21 w 21"/>
                  <a:gd name="T17" fmla="*/ 0 h 43"/>
                  <a:gd name="T18" fmla="*/ 21 w 21"/>
                  <a:gd name="T19" fmla="*/ 43 h 43"/>
                  <a:gd name="T20" fmla="*/ 16 w 21"/>
                  <a:gd name="T21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" h="43">
                    <a:moveTo>
                      <a:pt x="16" y="43"/>
                    </a:moveTo>
                    <a:lnTo>
                      <a:pt x="5" y="13"/>
                    </a:lnTo>
                    <a:lnTo>
                      <a:pt x="5" y="43"/>
                    </a:lnTo>
                    <a:lnTo>
                      <a:pt x="0" y="43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16" y="29"/>
                    </a:lnTo>
                    <a:lnTo>
                      <a:pt x="16" y="0"/>
                    </a:lnTo>
                    <a:lnTo>
                      <a:pt x="21" y="0"/>
                    </a:lnTo>
                    <a:lnTo>
                      <a:pt x="21" y="43"/>
                    </a:lnTo>
                    <a:lnTo>
                      <a:pt x="16" y="43"/>
                    </a:lnTo>
                    <a:close/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Freeform 59"/>
              <p:cNvSpPr>
                <a:spLocks/>
              </p:cNvSpPr>
              <p:nvPr userDrawn="1"/>
            </p:nvSpPr>
            <p:spPr bwMode="auto">
              <a:xfrm>
                <a:off x="10479088" y="5881688"/>
                <a:ext cx="31750" cy="68263"/>
              </a:xfrm>
              <a:custGeom>
                <a:avLst/>
                <a:gdLst>
                  <a:gd name="T0" fmla="*/ 12 w 20"/>
                  <a:gd name="T1" fmla="*/ 4 h 43"/>
                  <a:gd name="T2" fmla="*/ 12 w 20"/>
                  <a:gd name="T3" fmla="*/ 43 h 43"/>
                  <a:gd name="T4" fmla="*/ 7 w 20"/>
                  <a:gd name="T5" fmla="*/ 43 h 43"/>
                  <a:gd name="T6" fmla="*/ 7 w 20"/>
                  <a:gd name="T7" fmla="*/ 4 h 43"/>
                  <a:gd name="T8" fmla="*/ 0 w 20"/>
                  <a:gd name="T9" fmla="*/ 4 h 43"/>
                  <a:gd name="T10" fmla="*/ 0 w 20"/>
                  <a:gd name="T11" fmla="*/ 0 h 43"/>
                  <a:gd name="T12" fmla="*/ 20 w 20"/>
                  <a:gd name="T13" fmla="*/ 0 h 43"/>
                  <a:gd name="T14" fmla="*/ 20 w 20"/>
                  <a:gd name="T15" fmla="*/ 4 h 43"/>
                  <a:gd name="T16" fmla="*/ 12 w 20"/>
                  <a:gd name="T17" fmla="*/ 4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43">
                    <a:moveTo>
                      <a:pt x="12" y="4"/>
                    </a:moveTo>
                    <a:lnTo>
                      <a:pt x="12" y="43"/>
                    </a:lnTo>
                    <a:lnTo>
                      <a:pt x="7" y="43"/>
                    </a:lnTo>
                    <a:lnTo>
                      <a:pt x="7" y="4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20" y="0"/>
                    </a:lnTo>
                    <a:lnTo>
                      <a:pt x="20" y="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39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Rectangle 60"/>
              <p:cNvSpPr>
                <a:spLocks noChangeArrowheads="1"/>
              </p:cNvSpPr>
              <p:nvPr userDrawn="1"/>
            </p:nvSpPr>
            <p:spPr bwMode="auto">
              <a:xfrm>
                <a:off x="9986963" y="6003925"/>
                <a:ext cx="22225" cy="14605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Freeform 61"/>
              <p:cNvSpPr>
                <a:spLocks/>
              </p:cNvSpPr>
              <p:nvPr userDrawn="1"/>
            </p:nvSpPr>
            <p:spPr bwMode="auto">
              <a:xfrm>
                <a:off x="10045701" y="6003925"/>
                <a:ext cx="77788" cy="146050"/>
              </a:xfrm>
              <a:custGeom>
                <a:avLst/>
                <a:gdLst>
                  <a:gd name="T0" fmla="*/ 36 w 49"/>
                  <a:gd name="T1" fmla="*/ 92 h 92"/>
                  <a:gd name="T2" fmla="*/ 14 w 49"/>
                  <a:gd name="T3" fmla="*/ 37 h 92"/>
                  <a:gd name="T4" fmla="*/ 14 w 49"/>
                  <a:gd name="T5" fmla="*/ 92 h 92"/>
                  <a:gd name="T6" fmla="*/ 0 w 49"/>
                  <a:gd name="T7" fmla="*/ 92 h 92"/>
                  <a:gd name="T8" fmla="*/ 0 w 49"/>
                  <a:gd name="T9" fmla="*/ 0 h 92"/>
                  <a:gd name="T10" fmla="*/ 13 w 49"/>
                  <a:gd name="T11" fmla="*/ 0 h 92"/>
                  <a:gd name="T12" fmla="*/ 34 w 49"/>
                  <a:gd name="T13" fmla="*/ 55 h 92"/>
                  <a:gd name="T14" fmla="*/ 34 w 49"/>
                  <a:gd name="T15" fmla="*/ 0 h 92"/>
                  <a:gd name="T16" fmla="*/ 49 w 49"/>
                  <a:gd name="T17" fmla="*/ 0 h 92"/>
                  <a:gd name="T18" fmla="*/ 49 w 49"/>
                  <a:gd name="T19" fmla="*/ 92 h 92"/>
                  <a:gd name="T20" fmla="*/ 36 w 49"/>
                  <a:gd name="T21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9" h="92">
                    <a:moveTo>
                      <a:pt x="36" y="92"/>
                    </a:moveTo>
                    <a:lnTo>
                      <a:pt x="14" y="37"/>
                    </a:lnTo>
                    <a:lnTo>
                      <a:pt x="14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13" y="0"/>
                    </a:lnTo>
                    <a:lnTo>
                      <a:pt x="34" y="55"/>
                    </a:lnTo>
                    <a:lnTo>
                      <a:pt x="34" y="0"/>
                    </a:lnTo>
                    <a:lnTo>
                      <a:pt x="49" y="0"/>
                    </a:lnTo>
                    <a:lnTo>
                      <a:pt x="49" y="92"/>
                    </a:lnTo>
                    <a:lnTo>
                      <a:pt x="36" y="9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62"/>
              <p:cNvSpPr>
                <a:spLocks/>
              </p:cNvSpPr>
              <p:nvPr userDrawn="1"/>
            </p:nvSpPr>
            <p:spPr bwMode="auto">
              <a:xfrm>
                <a:off x="10160001" y="6003925"/>
                <a:ext cx="60325" cy="146050"/>
              </a:xfrm>
              <a:custGeom>
                <a:avLst/>
                <a:gdLst>
                  <a:gd name="T0" fmla="*/ 14 w 38"/>
                  <a:gd name="T1" fmla="*/ 13 h 92"/>
                  <a:gd name="T2" fmla="*/ 14 w 38"/>
                  <a:gd name="T3" fmla="*/ 39 h 92"/>
                  <a:gd name="T4" fmla="*/ 35 w 38"/>
                  <a:gd name="T5" fmla="*/ 39 h 92"/>
                  <a:gd name="T6" fmla="*/ 35 w 38"/>
                  <a:gd name="T7" fmla="*/ 52 h 92"/>
                  <a:gd name="T8" fmla="*/ 14 w 38"/>
                  <a:gd name="T9" fmla="*/ 52 h 92"/>
                  <a:gd name="T10" fmla="*/ 14 w 38"/>
                  <a:gd name="T11" fmla="*/ 92 h 92"/>
                  <a:gd name="T12" fmla="*/ 0 w 38"/>
                  <a:gd name="T13" fmla="*/ 92 h 92"/>
                  <a:gd name="T14" fmla="*/ 0 w 38"/>
                  <a:gd name="T15" fmla="*/ 0 h 92"/>
                  <a:gd name="T16" fmla="*/ 38 w 38"/>
                  <a:gd name="T17" fmla="*/ 0 h 92"/>
                  <a:gd name="T18" fmla="*/ 38 w 38"/>
                  <a:gd name="T19" fmla="*/ 13 h 92"/>
                  <a:gd name="T20" fmla="*/ 14 w 38"/>
                  <a:gd name="T21" fmla="*/ 13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8" h="92">
                    <a:moveTo>
                      <a:pt x="14" y="13"/>
                    </a:moveTo>
                    <a:lnTo>
                      <a:pt x="14" y="39"/>
                    </a:lnTo>
                    <a:lnTo>
                      <a:pt x="35" y="39"/>
                    </a:lnTo>
                    <a:lnTo>
                      <a:pt x="35" y="52"/>
                    </a:lnTo>
                    <a:lnTo>
                      <a:pt x="14" y="52"/>
                    </a:lnTo>
                    <a:lnTo>
                      <a:pt x="14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38" y="0"/>
                    </a:lnTo>
                    <a:lnTo>
                      <a:pt x="38" y="13"/>
                    </a:lnTo>
                    <a:lnTo>
                      <a:pt x="14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Rectangle 63"/>
              <p:cNvSpPr>
                <a:spLocks noChangeArrowheads="1"/>
              </p:cNvSpPr>
              <p:nvPr userDrawn="1"/>
            </p:nvSpPr>
            <p:spPr bwMode="auto">
              <a:xfrm>
                <a:off x="10252076" y="6003925"/>
                <a:ext cx="23813" cy="14605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64"/>
              <p:cNvSpPr>
                <a:spLocks/>
              </p:cNvSpPr>
              <p:nvPr userDrawn="1"/>
            </p:nvSpPr>
            <p:spPr bwMode="auto">
              <a:xfrm>
                <a:off x="10312401" y="6003925"/>
                <a:ext cx="76200" cy="146050"/>
              </a:xfrm>
              <a:custGeom>
                <a:avLst/>
                <a:gdLst>
                  <a:gd name="T0" fmla="*/ 36 w 48"/>
                  <a:gd name="T1" fmla="*/ 92 h 92"/>
                  <a:gd name="T2" fmla="*/ 14 w 48"/>
                  <a:gd name="T3" fmla="*/ 37 h 92"/>
                  <a:gd name="T4" fmla="*/ 14 w 48"/>
                  <a:gd name="T5" fmla="*/ 92 h 92"/>
                  <a:gd name="T6" fmla="*/ 0 w 48"/>
                  <a:gd name="T7" fmla="*/ 92 h 92"/>
                  <a:gd name="T8" fmla="*/ 0 w 48"/>
                  <a:gd name="T9" fmla="*/ 0 h 92"/>
                  <a:gd name="T10" fmla="*/ 12 w 48"/>
                  <a:gd name="T11" fmla="*/ 0 h 92"/>
                  <a:gd name="T12" fmla="*/ 34 w 48"/>
                  <a:gd name="T13" fmla="*/ 55 h 92"/>
                  <a:gd name="T14" fmla="*/ 34 w 48"/>
                  <a:gd name="T15" fmla="*/ 0 h 92"/>
                  <a:gd name="T16" fmla="*/ 48 w 48"/>
                  <a:gd name="T17" fmla="*/ 0 h 92"/>
                  <a:gd name="T18" fmla="*/ 48 w 48"/>
                  <a:gd name="T19" fmla="*/ 92 h 92"/>
                  <a:gd name="T20" fmla="*/ 36 w 48"/>
                  <a:gd name="T21" fmla="*/ 9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92">
                    <a:moveTo>
                      <a:pt x="36" y="92"/>
                    </a:moveTo>
                    <a:lnTo>
                      <a:pt x="14" y="37"/>
                    </a:lnTo>
                    <a:lnTo>
                      <a:pt x="14" y="92"/>
                    </a:lnTo>
                    <a:lnTo>
                      <a:pt x="0" y="9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34" y="55"/>
                    </a:lnTo>
                    <a:lnTo>
                      <a:pt x="34" y="0"/>
                    </a:lnTo>
                    <a:lnTo>
                      <a:pt x="48" y="0"/>
                    </a:lnTo>
                    <a:lnTo>
                      <a:pt x="48" y="92"/>
                    </a:lnTo>
                    <a:lnTo>
                      <a:pt x="36" y="9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Rectangle 65"/>
              <p:cNvSpPr>
                <a:spLocks noChangeArrowheads="1"/>
              </p:cNvSpPr>
              <p:nvPr userDrawn="1"/>
            </p:nvSpPr>
            <p:spPr bwMode="auto">
              <a:xfrm>
                <a:off x="10425113" y="6003925"/>
                <a:ext cx="23813" cy="14605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66"/>
              <p:cNvSpPr>
                <a:spLocks/>
              </p:cNvSpPr>
              <p:nvPr userDrawn="1"/>
            </p:nvSpPr>
            <p:spPr bwMode="auto">
              <a:xfrm>
                <a:off x="10479088" y="6003925"/>
                <a:ext cx="71438" cy="146050"/>
              </a:xfrm>
              <a:custGeom>
                <a:avLst/>
                <a:gdLst>
                  <a:gd name="T0" fmla="*/ 30 w 45"/>
                  <a:gd name="T1" fmla="*/ 13 h 92"/>
                  <a:gd name="T2" fmla="*/ 30 w 45"/>
                  <a:gd name="T3" fmla="*/ 92 h 92"/>
                  <a:gd name="T4" fmla="*/ 15 w 45"/>
                  <a:gd name="T5" fmla="*/ 92 h 92"/>
                  <a:gd name="T6" fmla="*/ 15 w 45"/>
                  <a:gd name="T7" fmla="*/ 13 h 92"/>
                  <a:gd name="T8" fmla="*/ 0 w 45"/>
                  <a:gd name="T9" fmla="*/ 13 h 92"/>
                  <a:gd name="T10" fmla="*/ 0 w 45"/>
                  <a:gd name="T11" fmla="*/ 0 h 92"/>
                  <a:gd name="T12" fmla="*/ 45 w 45"/>
                  <a:gd name="T13" fmla="*/ 0 h 92"/>
                  <a:gd name="T14" fmla="*/ 45 w 45"/>
                  <a:gd name="T15" fmla="*/ 13 h 92"/>
                  <a:gd name="T16" fmla="*/ 30 w 45"/>
                  <a:gd name="T17" fmla="*/ 13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" h="92">
                    <a:moveTo>
                      <a:pt x="30" y="13"/>
                    </a:moveTo>
                    <a:lnTo>
                      <a:pt x="30" y="92"/>
                    </a:lnTo>
                    <a:lnTo>
                      <a:pt x="15" y="92"/>
                    </a:lnTo>
                    <a:lnTo>
                      <a:pt x="15" y="13"/>
                    </a:lnTo>
                    <a:lnTo>
                      <a:pt x="0" y="13"/>
                    </a:lnTo>
                    <a:lnTo>
                      <a:pt x="0" y="0"/>
                    </a:lnTo>
                    <a:lnTo>
                      <a:pt x="45" y="0"/>
                    </a:lnTo>
                    <a:lnTo>
                      <a:pt x="45" y="13"/>
                    </a:lnTo>
                    <a:lnTo>
                      <a:pt x="30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Freeform 67"/>
              <p:cNvSpPr>
                <a:spLocks/>
              </p:cNvSpPr>
              <p:nvPr userDrawn="1"/>
            </p:nvSpPr>
            <p:spPr bwMode="auto">
              <a:xfrm>
                <a:off x="10574338" y="6003925"/>
                <a:ext cx="79375" cy="146050"/>
              </a:xfrm>
              <a:custGeom>
                <a:avLst/>
                <a:gdLst>
                  <a:gd name="T0" fmla="*/ 32 w 50"/>
                  <a:gd name="T1" fmla="*/ 56 h 92"/>
                  <a:gd name="T2" fmla="*/ 32 w 50"/>
                  <a:gd name="T3" fmla="*/ 92 h 92"/>
                  <a:gd name="T4" fmla="*/ 17 w 50"/>
                  <a:gd name="T5" fmla="*/ 92 h 92"/>
                  <a:gd name="T6" fmla="*/ 17 w 50"/>
                  <a:gd name="T7" fmla="*/ 56 h 92"/>
                  <a:gd name="T8" fmla="*/ 0 w 50"/>
                  <a:gd name="T9" fmla="*/ 0 h 92"/>
                  <a:gd name="T10" fmla="*/ 16 w 50"/>
                  <a:gd name="T11" fmla="*/ 0 h 92"/>
                  <a:gd name="T12" fmla="*/ 25 w 50"/>
                  <a:gd name="T13" fmla="*/ 36 h 92"/>
                  <a:gd name="T14" fmla="*/ 34 w 50"/>
                  <a:gd name="T15" fmla="*/ 0 h 92"/>
                  <a:gd name="T16" fmla="*/ 50 w 50"/>
                  <a:gd name="T17" fmla="*/ 0 h 92"/>
                  <a:gd name="T18" fmla="*/ 32 w 50"/>
                  <a:gd name="T19" fmla="*/ 56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" h="92">
                    <a:moveTo>
                      <a:pt x="32" y="56"/>
                    </a:moveTo>
                    <a:lnTo>
                      <a:pt x="32" y="92"/>
                    </a:lnTo>
                    <a:lnTo>
                      <a:pt x="17" y="92"/>
                    </a:lnTo>
                    <a:lnTo>
                      <a:pt x="17" y="56"/>
                    </a:lnTo>
                    <a:lnTo>
                      <a:pt x="0" y="0"/>
                    </a:lnTo>
                    <a:lnTo>
                      <a:pt x="16" y="0"/>
                    </a:lnTo>
                    <a:lnTo>
                      <a:pt x="25" y="36"/>
                    </a:lnTo>
                    <a:lnTo>
                      <a:pt x="34" y="0"/>
                    </a:lnTo>
                    <a:lnTo>
                      <a:pt x="50" y="0"/>
                    </a:lnTo>
                    <a:lnTo>
                      <a:pt x="32" y="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1027" name="Picture 3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6970" y="5076024"/>
              <a:ext cx="2633472" cy="762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25657561"/>
      </p:ext>
    </p:extLst>
  </p:cSld>
  <p:clrMapOvr>
    <a:masterClrMapping/>
  </p:clrMapOvr>
  <p:transition>
    <p:fade/>
  </p:transition>
  <p:hf sldNum="0" hdr="0" ftr="0" dt="0"/>
  <p:extLst mod="1"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_security classification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" hidden="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5138E8-3F3E-4DC5-A5FA-50868B94627A}" type="datetimeFigureOut">
              <a:rPr lang="en-US" smtClean="0"/>
              <a:t>12/5/2017</a:t>
            </a:fld>
            <a:endParaRPr lang="en-US" dirty="0"/>
          </a:p>
        </p:txBody>
      </p:sp>
      <p:sp>
        <p:nvSpPr>
          <p:cNvPr id="6" name="Agenda list"/>
          <p:cNvSpPr>
            <a:spLocks noGrp="1"/>
          </p:cNvSpPr>
          <p:nvPr>
            <p:ph sz="quarter" idx="12"/>
          </p:nvPr>
        </p:nvSpPr>
        <p:spPr>
          <a:xfrm>
            <a:off x="2243780" y="1752898"/>
            <a:ext cx="9211620" cy="4163242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Calibri" panose="020F0502020204030204" pitchFamily="34" charset="0"/>
              <a:buChar char="•"/>
              <a:defRPr sz="2400">
                <a:solidFill>
                  <a:schemeClr val="tx2">
                    <a:lumMod val="75000"/>
                  </a:schemeClr>
                </a:solidFill>
              </a:defRPr>
            </a:lvl1pPr>
            <a:lvl2pPr marL="576072" indent="-228600">
              <a:buFont typeface="Calibri" panose="020F0502020204030204" pitchFamily="34" charset="0"/>
              <a:buChar char="̶"/>
              <a:defRPr>
                <a:solidFill>
                  <a:schemeClr val="tx2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1166813" y="976680"/>
            <a:ext cx="8483330" cy="70728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832947"/>
      </p:ext>
    </p:extLst>
  </p:cSld>
  <p:clrMapOvr>
    <a:masterClrMapping/>
  </p:clrMapOvr>
  <p:transition>
    <p:fade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_security classification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" hidden="1"/>
          <p:cNvSpPr>
            <a:spLocks noGrp="1"/>
          </p:cNvSpPr>
          <p:nvPr>
            <p:ph type="dt" sz="quarter" idx="1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/>
          <a:lstStyle/>
          <a:p>
            <a:fld id="{1C396E99-728E-4BC1-9827-5FA2D157E6FB}" type="datetimeFigureOut">
              <a:rPr lang="en-US" smtClean="0"/>
              <a:t>12/5/2017</a:t>
            </a:fld>
            <a:endParaRPr lang="en-US" dirty="0"/>
          </a:p>
        </p:txBody>
      </p:sp>
      <p:sp>
        <p:nvSpPr>
          <p:cNvPr id="13" name="Bullet text"/>
          <p:cNvSpPr>
            <a:spLocks noGrp="1"/>
          </p:cNvSpPr>
          <p:nvPr>
            <p:ph sz="quarter" idx="11"/>
          </p:nvPr>
        </p:nvSpPr>
        <p:spPr>
          <a:xfrm>
            <a:off x="583074" y="1457960"/>
            <a:ext cx="11000914" cy="4676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9857339" cy="92374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63407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ullets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_security classification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" hidden="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5138E8-3F3E-4DC5-A5FA-50868B94627A}" type="datetimeFigureOut">
              <a:rPr lang="en-US" smtClean="0"/>
              <a:t>12/5/2017</a:t>
            </a:fld>
            <a:endParaRPr lang="en-US" dirty="0"/>
          </a:p>
        </p:txBody>
      </p: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9857339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accent1"/>
              </a:buClr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–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̶"/>
              <a:defRPr sz="1800">
                <a:solidFill>
                  <a:schemeClr val="tx1"/>
                </a:solidFill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̶"/>
              <a:defRPr sz="1600">
                <a:solidFill>
                  <a:schemeClr val="tx1"/>
                </a:solidFill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accent1"/>
              </a:buClr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–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̶"/>
              <a:defRPr sz="1800">
                <a:solidFill>
                  <a:schemeClr val="tx1"/>
                </a:solidFill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̶"/>
              <a:defRPr sz="1600">
                <a:solidFill>
                  <a:schemeClr val="tx1"/>
                </a:solidFill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17431086"/>
      </p:ext>
    </p:extLst>
  </p:cSld>
  <p:clrMapOvr>
    <a:masterClrMapping/>
  </p:clrMapOvr>
  <p:transition>
    <p:fade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 Bullets_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_security classification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" hidden="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5138E8-3F3E-4DC5-A5FA-50868B94627A}" type="datetimeFigureOut">
              <a:rPr lang="en-US" smtClean="0"/>
              <a:t>12/5/2017</a:t>
            </a:fld>
            <a:endParaRPr lang="en-US" dirty="0"/>
          </a:p>
        </p:txBody>
      </p:sp>
      <p:sp>
        <p:nvSpPr>
          <p:cNvPr id="13" name="Sub-title_column 3"/>
          <p:cNvSpPr>
            <a:spLocks noGrp="1"/>
          </p:cNvSpPr>
          <p:nvPr userDrawn="1">
            <p:ph type="body" sz="quarter" idx="16"/>
          </p:nvPr>
        </p:nvSpPr>
        <p:spPr>
          <a:xfrm>
            <a:off x="8289002" y="1525707"/>
            <a:ext cx="3345117" cy="77649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>
              <a:lnSpc>
                <a:spcPct val="85000"/>
              </a:lnSpc>
              <a:buNone/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ub-title_column 2"/>
          <p:cNvSpPr>
            <a:spLocks noGrp="1"/>
          </p:cNvSpPr>
          <p:nvPr userDrawn="1">
            <p:ph type="body" sz="quarter" idx="14"/>
          </p:nvPr>
        </p:nvSpPr>
        <p:spPr>
          <a:xfrm>
            <a:off x="4438649" y="1525707"/>
            <a:ext cx="3374116" cy="77649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>
              <a:lnSpc>
                <a:spcPct val="85000"/>
              </a:lnSpc>
              <a:buNone/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-title_column 1"/>
          <p:cNvSpPr>
            <a:spLocks noGrp="1"/>
          </p:cNvSpPr>
          <p:nvPr>
            <p:ph type="body" sz="quarter" idx="12"/>
          </p:nvPr>
        </p:nvSpPr>
        <p:spPr>
          <a:xfrm>
            <a:off x="584737" y="1525707"/>
            <a:ext cx="3402012" cy="77649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>
              <a:lnSpc>
                <a:spcPct val="85000"/>
              </a:lnSpc>
              <a:buNone/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585216" y="460552"/>
            <a:ext cx="9857339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_column 2"/>
          <p:cNvSpPr>
            <a:spLocks noGrp="1"/>
          </p:cNvSpPr>
          <p:nvPr>
            <p:ph sz="half" idx="20"/>
          </p:nvPr>
        </p:nvSpPr>
        <p:spPr>
          <a:xfrm>
            <a:off x="582848" y="2560972"/>
            <a:ext cx="3337560" cy="3601231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accent1"/>
              </a:buClr>
              <a:buSzPct val="85000"/>
              <a:buFont typeface="Calibri" panose="020F050202020403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–"/>
              <a:defRPr sz="1800">
                <a:solidFill>
                  <a:schemeClr val="tx1"/>
                </a:solidFill>
              </a:defRPr>
            </a:lvl2pPr>
            <a:lvl3pPr marL="685800" indent="-15544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̶"/>
              <a:tabLst>
                <a:tab pos="688975" algn="l"/>
              </a:tabLst>
              <a:defRPr sz="1600">
                <a:solidFill>
                  <a:schemeClr val="tx1"/>
                </a:solidFill>
              </a:defRPr>
            </a:lvl3pPr>
            <a:lvl4pPr marL="886968" indent="-15544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̶"/>
              <a:defRPr sz="1400">
                <a:solidFill>
                  <a:schemeClr val="tx1"/>
                </a:solidFill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_column 2"/>
          <p:cNvSpPr>
            <a:spLocks noGrp="1"/>
          </p:cNvSpPr>
          <p:nvPr>
            <p:ph sz="half" idx="21"/>
          </p:nvPr>
        </p:nvSpPr>
        <p:spPr>
          <a:xfrm>
            <a:off x="4434154" y="2560972"/>
            <a:ext cx="3337560" cy="3601231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accent1"/>
              </a:buClr>
              <a:buSzPct val="85000"/>
              <a:buFont typeface="Calibri" panose="020F050202020403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–"/>
              <a:defRPr sz="1800">
                <a:solidFill>
                  <a:schemeClr val="tx1"/>
                </a:solidFill>
              </a:defRPr>
            </a:lvl2pPr>
            <a:lvl3pPr marL="685800" indent="-15544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̶"/>
              <a:tabLst>
                <a:tab pos="688975" algn="l"/>
              </a:tabLst>
              <a:defRPr sz="1600">
                <a:solidFill>
                  <a:schemeClr val="tx1"/>
                </a:solidFill>
              </a:defRPr>
            </a:lvl3pPr>
            <a:lvl4pPr marL="886968" indent="-15544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̶"/>
              <a:defRPr sz="1400">
                <a:solidFill>
                  <a:schemeClr val="tx1"/>
                </a:solidFill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_column 2"/>
          <p:cNvSpPr>
            <a:spLocks noGrp="1"/>
          </p:cNvSpPr>
          <p:nvPr>
            <p:ph sz="half" idx="22"/>
          </p:nvPr>
        </p:nvSpPr>
        <p:spPr>
          <a:xfrm>
            <a:off x="8283370" y="2560972"/>
            <a:ext cx="3337560" cy="3601231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accent1"/>
              </a:buClr>
              <a:buSzPct val="85000"/>
              <a:buFont typeface="Calibri" panose="020F050202020403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–"/>
              <a:defRPr sz="1800">
                <a:solidFill>
                  <a:schemeClr val="tx1"/>
                </a:solidFill>
              </a:defRPr>
            </a:lvl2pPr>
            <a:lvl3pPr marL="685800" indent="-15544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̶"/>
              <a:tabLst>
                <a:tab pos="688975" algn="l"/>
              </a:tabLst>
              <a:defRPr sz="1600">
                <a:solidFill>
                  <a:schemeClr val="tx1"/>
                </a:solidFill>
              </a:defRPr>
            </a:lvl3pPr>
            <a:lvl4pPr marL="886968" indent="-155448">
              <a:lnSpc>
                <a:spcPct val="95000"/>
              </a:lnSpc>
              <a:spcBef>
                <a:spcPts val="800"/>
              </a:spcBef>
              <a:buClr>
                <a:schemeClr val="accent1"/>
              </a:buClr>
              <a:buFont typeface="Calibri" panose="020F0502020204030204" pitchFamily="34" charset="0"/>
              <a:buChar char="̶"/>
              <a:defRPr sz="1400">
                <a:solidFill>
                  <a:schemeClr val="tx1"/>
                </a:solidFill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9616874"/>
      </p:ext>
    </p:extLst>
  </p:cSld>
  <p:clrMapOvr>
    <a:masterClrMapping/>
  </p:clrMapOvr>
  <p:transition>
    <p:fad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_security classification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" hidden="1"/>
          <p:cNvSpPr>
            <a:spLocks noGrp="1"/>
          </p:cNvSpPr>
          <p:nvPr>
            <p:ph type="dt" sz="quarter" idx="1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/>
          <a:lstStyle/>
          <a:p>
            <a:fld id="{1C396E99-728E-4BC1-9827-5FA2D157E6FB}" type="datetimeFigureOut">
              <a:rPr lang="en-US" smtClean="0"/>
              <a:t>12/5/2017</a:t>
            </a:fld>
            <a:endParaRPr lang="en-US" dirty="0"/>
          </a:p>
        </p:txBody>
      </p: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9857339" cy="92374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2522"/>
      </p:ext>
    </p:extLst>
  </p:cSld>
  <p:clrMapOvr>
    <a:masterClrMapping/>
  </p:clrMapOvr>
  <p:transition>
    <p:fade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" hidden="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85138E8-3F3E-4DC5-A5FA-50868B94627A}" type="datetimeFigureOut">
              <a:rPr lang="en-US" smtClean="0"/>
              <a:t>12/5/2017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76253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Bullets+Half Pa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ink Background"/>
          <p:cNvGrpSpPr/>
          <p:nvPr userDrawn="1"/>
        </p:nvGrpSpPr>
        <p:grpSpPr>
          <a:xfrm>
            <a:off x="6127749" y="1639737"/>
            <a:ext cx="6067112" cy="3810151"/>
            <a:chOff x="6127749" y="1639737"/>
            <a:chExt cx="6067112" cy="3785633"/>
          </a:xfrm>
        </p:grpSpPr>
        <p:sp>
          <p:nvSpPr>
            <p:cNvPr id="12" name="Pink: 43%"/>
            <p:cNvSpPr/>
            <p:nvPr userDrawn="1"/>
          </p:nvSpPr>
          <p:spPr bwMode="gray">
            <a:xfrm>
              <a:off x="10782300" y="1639737"/>
              <a:ext cx="689705" cy="3783164"/>
            </a:xfrm>
            <a:prstGeom prst="rect">
              <a:avLst/>
            </a:prstGeom>
            <a:solidFill>
              <a:srgbClr val="E45785">
                <a:alpha val="56863"/>
              </a:srgbClr>
            </a:solidFill>
            <a:ln w="12700" algn="ctr">
              <a:noFill/>
              <a:miter lim="800000"/>
              <a:headEnd/>
              <a:tailEnd/>
            </a:ln>
            <a:effectLst/>
            <a:ex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14" name="Background pink"/>
            <p:cNvSpPr/>
            <p:nvPr userDrawn="1"/>
          </p:nvSpPr>
          <p:spPr bwMode="auto">
            <a:xfrm>
              <a:off x="6127749" y="1639737"/>
              <a:ext cx="4991355" cy="3783164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miter lim="800000"/>
              <a:headEnd/>
              <a:tailEnd/>
            </a:ln>
            <a:effectLst/>
            <a:ex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15" name="Pink: 54%"/>
            <p:cNvSpPr/>
            <p:nvPr userDrawn="1"/>
          </p:nvSpPr>
          <p:spPr bwMode="gray">
            <a:xfrm>
              <a:off x="10782300" y="1639737"/>
              <a:ext cx="1049449" cy="3783164"/>
            </a:xfrm>
            <a:prstGeom prst="rect">
              <a:avLst/>
            </a:prstGeom>
            <a:solidFill>
              <a:srgbClr val="E45785">
                <a:alpha val="45490"/>
              </a:srgbClr>
            </a:solidFill>
            <a:ln w="12700" algn="ctr">
              <a:noFill/>
              <a:miter lim="800000"/>
              <a:headEnd/>
              <a:tailEnd/>
            </a:ln>
            <a:effectLst/>
            <a:ex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18" name="Pink:65%"/>
            <p:cNvSpPr/>
            <p:nvPr userDrawn="1"/>
          </p:nvSpPr>
          <p:spPr bwMode="gray">
            <a:xfrm>
              <a:off x="11017189" y="1642206"/>
              <a:ext cx="1177672" cy="3783164"/>
            </a:xfrm>
            <a:prstGeom prst="rect">
              <a:avLst/>
            </a:prstGeom>
            <a:solidFill>
              <a:srgbClr val="E45785">
                <a:alpha val="34902"/>
              </a:srgbClr>
            </a:solidFill>
            <a:ln w="12700" algn="ctr">
              <a:noFill/>
              <a:miter lim="800000"/>
              <a:headEnd/>
              <a:tailEnd/>
            </a:ln>
            <a:effectLst/>
            <a:ex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r>
                <a:rPr lang="en-US" sz="3200" dirty="0">
                  <a:latin typeface="+mn-lt"/>
                </a:rPr>
                <a:t> </a:t>
              </a:r>
            </a:p>
          </p:txBody>
        </p:sp>
      </p:grpSp>
      <p:sp>
        <p:nvSpPr>
          <p:cNvPr id="3" name="Footer_security classification" hidden="1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" hidden="1"/>
          <p:cNvSpPr>
            <a:spLocks noGrp="1"/>
          </p:cNvSpPr>
          <p:nvPr userDrawn="1">
            <p:ph type="dt" sz="quarter" idx="17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/>
          <a:lstStyle/>
          <a:p>
            <a:fld id="{631CED19-27F7-4D05-847C-E59ED2A84874}" type="datetimeFigureOut">
              <a:rPr lang="en-US" smtClean="0"/>
              <a:t>12/5/2017</a:t>
            </a:fld>
            <a:endParaRPr lang="en-US" dirty="0"/>
          </a:p>
        </p:txBody>
      </p:sp>
      <p:sp>
        <p:nvSpPr>
          <p:cNvPr id="17" name="Credit text"/>
          <p:cNvSpPr>
            <a:spLocks noGrp="1"/>
          </p:cNvSpPr>
          <p:nvPr userDrawn="1"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16" name="Quote text"/>
          <p:cNvSpPr>
            <a:spLocks noGrp="1"/>
          </p:cNvSpPr>
          <p:nvPr userDrawn="1">
            <p:ph type="body" sz="quarter" idx="1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Title"/>
          <p:cNvSpPr>
            <a:spLocks noGrp="1"/>
          </p:cNvSpPr>
          <p:nvPr userDrawn="1">
            <p:ph type="title"/>
          </p:nvPr>
        </p:nvSpPr>
        <p:spPr>
          <a:xfrm>
            <a:off x="583842" y="460552"/>
            <a:ext cx="9857339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18371307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nk: 43%"/>
          <p:cNvSpPr/>
          <p:nvPr userDrawn="1"/>
        </p:nvSpPr>
        <p:spPr bwMode="gray">
          <a:xfrm>
            <a:off x="10782300" y="0"/>
            <a:ext cx="689705" cy="6858000"/>
          </a:xfrm>
          <a:prstGeom prst="rect">
            <a:avLst/>
          </a:prstGeom>
          <a:solidFill>
            <a:srgbClr val="E45785">
              <a:alpha val="56863"/>
            </a:srgbClr>
          </a:solidFill>
          <a:ln w="12700" algn="ctr">
            <a:noFill/>
            <a:miter lim="800000"/>
            <a:headEnd/>
            <a:tailEnd/>
          </a:ln>
          <a:effectLst/>
          <a:ex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ct val="115000"/>
            </a:pPr>
            <a:endParaRPr lang="en-US" sz="3200" dirty="0">
              <a:latin typeface="+mn-lt"/>
            </a:endParaRPr>
          </a:p>
        </p:txBody>
      </p:sp>
      <p:sp>
        <p:nvSpPr>
          <p:cNvPr id="15" name="Background pink"/>
          <p:cNvSpPr/>
          <p:nvPr userDrawn="1"/>
        </p:nvSpPr>
        <p:spPr bwMode="auto">
          <a:xfrm>
            <a:off x="1" y="0"/>
            <a:ext cx="11119104" cy="6858000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/>
          <a:extLst/>
        </p:spPr>
        <p:txBody>
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ct val="115000"/>
            </a:pPr>
            <a:endParaRPr lang="en-US" sz="3200" dirty="0">
              <a:latin typeface="+mn-lt"/>
            </a:endParaRPr>
          </a:p>
        </p:txBody>
      </p:sp>
      <p:sp>
        <p:nvSpPr>
          <p:cNvPr id="17" name="Pink: 54%"/>
          <p:cNvSpPr/>
          <p:nvPr userDrawn="1"/>
        </p:nvSpPr>
        <p:spPr bwMode="gray">
          <a:xfrm>
            <a:off x="10782300" y="0"/>
            <a:ext cx="1049449" cy="6858000"/>
          </a:xfrm>
          <a:prstGeom prst="rect">
            <a:avLst/>
          </a:prstGeom>
          <a:solidFill>
            <a:srgbClr val="E45785">
              <a:alpha val="45490"/>
            </a:srgbClr>
          </a:solidFill>
          <a:ln w="12700" algn="ctr">
            <a:noFill/>
            <a:miter lim="800000"/>
            <a:headEnd/>
            <a:tailEnd/>
          </a:ln>
          <a:effectLst/>
          <a:ex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ct val="115000"/>
            </a:pPr>
            <a:endParaRPr lang="en-US" sz="3200" dirty="0">
              <a:latin typeface="+mn-lt"/>
            </a:endParaRPr>
          </a:p>
        </p:txBody>
      </p:sp>
      <p:sp>
        <p:nvSpPr>
          <p:cNvPr id="18" name="Pink:65%"/>
          <p:cNvSpPr/>
          <p:nvPr userDrawn="1"/>
        </p:nvSpPr>
        <p:spPr bwMode="gray">
          <a:xfrm>
            <a:off x="11017189" y="2469"/>
            <a:ext cx="1177672" cy="6858000"/>
          </a:xfrm>
          <a:prstGeom prst="rect">
            <a:avLst/>
          </a:prstGeom>
          <a:solidFill>
            <a:srgbClr val="E45785">
              <a:alpha val="34902"/>
            </a:srgbClr>
          </a:solidFill>
          <a:ln w="12700" algn="ctr">
            <a:noFill/>
            <a:miter lim="800000"/>
            <a:headEnd/>
            <a:tailEnd/>
          </a:ln>
          <a:effectLst/>
          <a:ex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ct val="115000"/>
            </a:pPr>
            <a:r>
              <a:rPr lang="en-US" sz="3200" dirty="0">
                <a:latin typeface="+mn-lt"/>
              </a:rPr>
              <a:t> </a:t>
            </a:r>
          </a:p>
        </p:txBody>
      </p:sp>
      <p:cxnSp>
        <p:nvCxnSpPr>
          <p:cNvPr id="19" name="Footer_line"/>
          <p:cNvCxnSpPr/>
          <p:nvPr userDrawn="1"/>
        </p:nvCxnSpPr>
        <p:spPr bwMode="auto">
          <a:xfrm>
            <a:off x="1" y="6541707"/>
            <a:ext cx="1111384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Date" hidden="1"/>
          <p:cNvSpPr>
            <a:spLocks noGrp="1"/>
          </p:cNvSpPr>
          <p:nvPr userDrawn="1">
            <p:ph type="dt" sz="quarter" idx="17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/>
          <a:lstStyle/>
          <a:p>
            <a:fld id="{04122083-5F1C-4B60-A9EF-EE0A01B04516}" type="datetimeFigureOut">
              <a:rPr lang="en-US" smtClean="0"/>
              <a:t>12/5/2017</a:t>
            </a:fld>
            <a:endParaRPr lang="en-US" dirty="0"/>
          </a:p>
        </p:txBody>
      </p:sp>
      <p:sp>
        <p:nvSpPr>
          <p:cNvPr id="4" name="Section title"/>
          <p:cNvSpPr>
            <a:spLocks noGrp="1"/>
          </p:cNvSpPr>
          <p:nvPr userDrawn="1">
            <p:ph type="body" sz="quarter" idx="12"/>
          </p:nvPr>
        </p:nvSpPr>
        <p:spPr bwMode="white">
          <a:xfrm>
            <a:off x="637179" y="2171235"/>
            <a:ext cx="9682338" cy="3027783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7000" b="0" cap="all" baseline="0">
                <a:solidFill>
                  <a:schemeClr val="bg1"/>
                </a:solidFill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ection number"/>
          <p:cNvSpPr>
            <a:spLocks noGrp="1"/>
          </p:cNvSpPr>
          <p:nvPr userDrawn="1">
            <p:ph type="body" sz="quarter" idx="16" hasCustomPrompt="1"/>
          </p:nvPr>
        </p:nvSpPr>
        <p:spPr bwMode="white">
          <a:xfrm>
            <a:off x="614319" y="1306287"/>
            <a:ext cx="9682338" cy="89107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7000" b="1" baseline="0">
                <a:solidFill>
                  <a:schemeClr val="tx1">
                    <a:lumMod val="50000"/>
                  </a:schemeClr>
                </a:solidFill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Edit #</a:t>
            </a:r>
          </a:p>
        </p:txBody>
      </p:sp>
      <p:sp>
        <p:nvSpPr>
          <p:cNvPr id="16" name="Footer_security classification" hidden="1"/>
          <p:cNvSpPr>
            <a:spLocks noGrp="1"/>
          </p:cNvSpPr>
          <p:nvPr>
            <p:ph type="ftr" sz="quarter" idx="3"/>
          </p:nvPr>
        </p:nvSpPr>
        <p:spPr>
          <a:xfrm>
            <a:off x="5929630" y="6533388"/>
            <a:ext cx="3799400" cy="30175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0" name="Footer_copyright"/>
          <p:cNvSpPr txBox="1">
            <a:spLocks/>
          </p:cNvSpPr>
          <p:nvPr userDrawn="1"/>
        </p:nvSpPr>
        <p:spPr>
          <a:xfrm>
            <a:off x="800158" y="6527656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75000"/>
                  </a:schemeClr>
                </a:solidFill>
              </a:rPr>
              <a:t>©2017 Check Point Software Technologies</a:t>
            </a:r>
            <a:r>
              <a:rPr lang="en-US" sz="900" kern="0" baseline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75000"/>
                  </a:schemeClr>
                </a:solidFill>
              </a:rPr>
              <a:t>Ltd. </a:t>
            </a:r>
          </a:p>
        </p:txBody>
      </p:sp>
    </p:spTree>
    <p:extLst>
      <p:ext uri="{BB962C8B-B14F-4D97-AF65-F5344CB8AC3E}">
        <p14:creationId xmlns:p14="http://schemas.microsoft.com/office/powerpoint/2010/main" val="1399437414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y gradient"/>
          <p:cNvSpPr/>
          <p:nvPr userDrawn="1"/>
        </p:nvSpPr>
        <p:spPr bwMode="auto">
          <a:xfrm>
            <a:off x="4241060" y="0"/>
            <a:ext cx="8039205" cy="647785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alpha val="42000"/>
                </a:schemeClr>
              </a:gs>
              <a:gs pos="100000">
                <a:schemeClr val="bg1">
                  <a:lumMod val="95000"/>
                  <a:shade val="100000"/>
                  <a:satMod val="115000"/>
                  <a:alpha val="0"/>
                </a:schemeClr>
              </a:gs>
            </a:gsLst>
            <a:lin ang="0" scaled="1"/>
            <a:tileRect/>
          </a:gradFill>
          <a:ln w="12700" algn="ctr">
            <a:noFill/>
            <a:miter lim="800000"/>
            <a:headEnd/>
            <a:tailEnd/>
          </a:ln>
          <a:effectLst/>
          <a:ex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>
              <a:latin typeface="+mn-lt"/>
            </a:endParaRPr>
          </a:p>
        </p:txBody>
      </p:sp>
      <p:cxnSp>
        <p:nvCxnSpPr>
          <p:cNvPr id="16" name="Pink vertical line"/>
          <p:cNvCxnSpPr/>
          <p:nvPr userDrawn="1"/>
        </p:nvCxnSpPr>
        <p:spPr bwMode="auto">
          <a:xfrm>
            <a:off x="4214166" y="786856"/>
            <a:ext cx="0" cy="4965032"/>
          </a:xfrm>
          <a:prstGeom prst="line">
            <a:avLst/>
          </a:prstGeom>
          <a:solidFill>
            <a:schemeClr val="bg1"/>
          </a:solidFill>
          <a:ln w="508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Footer_security classification" hidden="1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" hidden="1"/>
          <p:cNvSpPr>
            <a:spLocks noGrp="1"/>
          </p:cNvSpPr>
          <p:nvPr userDrawn="1">
            <p:ph type="dt" sz="quarter" idx="1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/>
          <a:lstStyle/>
          <a:p>
            <a:fld id="{00C1096B-9679-429B-9328-0AF82824D437}" type="datetimeFigureOut">
              <a:rPr lang="en-US" smtClean="0"/>
              <a:t>12/5/2017</a:t>
            </a:fld>
            <a:endParaRPr lang="en-US" dirty="0"/>
          </a:p>
        </p:txBody>
      </p:sp>
      <p:sp>
        <p:nvSpPr>
          <p:cNvPr id="4" name="Key points"/>
          <p:cNvSpPr>
            <a:spLocks noGrp="1"/>
          </p:cNvSpPr>
          <p:nvPr userDrawn="1">
            <p:ph type="body" sz="quarter" idx="11"/>
          </p:nvPr>
        </p:nvSpPr>
        <p:spPr>
          <a:xfrm>
            <a:off x="4875530" y="1399032"/>
            <a:ext cx="6730683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3200" baseline="0">
                <a:solidFill>
                  <a:schemeClr val="tx1"/>
                </a:solidFill>
                <a:latin typeface="+mn-lt"/>
              </a:defRPr>
            </a:lvl1pPr>
            <a:lvl2pPr marL="667512" indent="-237744">
              <a:lnSpc>
                <a:spcPct val="95000"/>
              </a:lnSpc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Title"/>
          <p:cNvSpPr>
            <a:spLocks noGrp="1"/>
          </p:cNvSpPr>
          <p:nvPr userDrawn="1">
            <p:ph type="title"/>
          </p:nvPr>
        </p:nvSpPr>
        <p:spPr>
          <a:xfrm>
            <a:off x="368300" y="1947672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0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789008"/>
      </p:ext>
    </p:extLst>
  </p:cSld>
  <p:clrMapOvr>
    <a:masterClrMapping/>
  </p:clrMapOvr>
  <p:transition>
    <p:fade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_page number"/>
          <p:cNvSpPr txBox="1">
            <a:spLocks/>
          </p:cNvSpPr>
          <p:nvPr/>
        </p:nvSpPr>
        <p:spPr>
          <a:xfrm>
            <a:off x="10006331" y="6556249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Footer_security classification" hidden="1"/>
          <p:cNvSpPr>
            <a:spLocks noGrp="1"/>
          </p:cNvSpPr>
          <p:nvPr>
            <p:ph type="ftr" sz="quarter" idx="3"/>
          </p:nvPr>
        </p:nvSpPr>
        <p:spPr>
          <a:xfrm>
            <a:off x="5929630" y="6533388"/>
            <a:ext cx="3799400" cy="30175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9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00158" y="6527656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2"/>
                </a:solidFill>
              </a:rPr>
              <a:t>©2017 Check Point Software Technologies</a:t>
            </a:r>
            <a:r>
              <a:rPr lang="en-US" sz="900" kern="0" baseline="0" dirty="0">
                <a:solidFill>
                  <a:schemeClr val="tx2"/>
                </a:solidFill>
              </a:rPr>
              <a:t> </a:t>
            </a:r>
            <a:r>
              <a:rPr lang="en-US" sz="900" kern="0" dirty="0">
                <a:solidFill>
                  <a:schemeClr val="tx2"/>
                </a:solidFill>
              </a:rPr>
              <a:t>Ltd. </a:t>
            </a: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12/5/2017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9857339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1" name="Group 90"/>
          <p:cNvGrpSpPr/>
          <p:nvPr/>
        </p:nvGrpSpPr>
        <p:grpSpPr>
          <a:xfrm>
            <a:off x="0" y="6430508"/>
            <a:ext cx="12188825" cy="101600"/>
            <a:chOff x="-76200" y="6495052"/>
            <a:chExt cx="12188825" cy="101600"/>
          </a:xfrm>
        </p:grpSpPr>
        <p:cxnSp>
          <p:nvCxnSpPr>
            <p:cNvPr id="92" name="Footer line"/>
            <p:cNvCxnSpPr/>
            <p:nvPr userDrawn="1"/>
          </p:nvCxnSpPr>
          <p:spPr bwMode="auto">
            <a:xfrm>
              <a:off x="-76200" y="6541347"/>
              <a:ext cx="831574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93" name="Picture 2"/>
            <p:cNvPicPr>
              <a:picLocks noChangeAspect="1" noChangeArrowheads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476" y="6495052"/>
              <a:ext cx="3251200" cy="101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94" name="Footer line"/>
            <p:cNvCxnSpPr/>
            <p:nvPr userDrawn="1"/>
          </p:nvCxnSpPr>
          <p:spPr bwMode="auto">
            <a:xfrm>
              <a:off x="4161767" y="6545184"/>
              <a:ext cx="7950858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106" y="201999"/>
            <a:ext cx="1289304" cy="808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69" r:id="rId2"/>
    <p:sldLayoutId id="2147483826" r:id="rId3"/>
    <p:sldLayoutId id="2147483841" r:id="rId4"/>
    <p:sldLayoutId id="2147483842" r:id="rId5"/>
    <p:sldLayoutId id="2147483871" r:id="rId6"/>
    <p:sldLayoutId id="2147483872" r:id="rId7"/>
    <p:sldLayoutId id="2147483765" r:id="rId8"/>
    <p:sldLayoutId id="2147483764" r:id="rId9"/>
    <p:sldLayoutId id="2147483870" r:id="rId10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accent1"/>
        </a:buClr>
        <a:buSzPct val="85000"/>
        <a:buFont typeface="Calibri" panose="020F0502020204030204" pitchFamily="34" charset="0"/>
        <a:buChar char="•"/>
        <a:defRPr lang="en-US" sz="28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1"/>
        </a:buClr>
        <a:buSzPct val="100000"/>
        <a:buFont typeface="Calibri" panose="020F0502020204030204" pitchFamily="34" charset="0"/>
        <a:buChar char="̶"/>
        <a:defRPr lang="en-US" sz="2400" dirty="0" smtClean="0">
          <a:solidFill>
            <a:schemeClr val="tx1"/>
          </a:solidFill>
          <a:latin typeface="+mn-lt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1"/>
        </a:buClr>
        <a:buSzPct val="100000"/>
        <a:buFont typeface="Calibri" panose="020F0502020204030204" pitchFamily="34" charset="0"/>
        <a:buChar char="̶"/>
        <a:defRPr lang="en-US" sz="2000" dirty="0" smtClean="0">
          <a:solidFill>
            <a:schemeClr val="tx1"/>
          </a:solidFill>
          <a:latin typeface="+mn-lt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Pasha Pal | Group Manager – SBA Technologies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Anti-Exploit TAC Training 2017</a:t>
            </a:r>
          </a:p>
          <a:p>
            <a:endParaRPr lang="en-US" dirty="0"/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</a:p>
        </p:txBody>
      </p:sp>
    </p:spTree>
    <p:extLst>
      <p:ext uri="{BB962C8B-B14F-4D97-AF65-F5344CB8AC3E}">
        <p14:creationId xmlns:p14="http://schemas.microsoft.com/office/powerpoint/2010/main" val="192440069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2"/>
          </p:nvPr>
        </p:nvSpPr>
        <p:spPr>
          <a:xfrm>
            <a:off x="1612716" y="1984717"/>
            <a:ext cx="9211620" cy="1822820"/>
          </a:xfrm>
        </p:spPr>
        <p:txBody>
          <a:bodyPr/>
          <a:lstStyle/>
          <a:p>
            <a:pPr>
              <a:buSzPct val="85000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Anti-Exploit </a:t>
            </a:r>
            <a:r>
              <a:rPr lang="en-US" dirty="0" smtClean="0"/>
              <a:t>Protection o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verview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Anti-Exploit Policy </a:t>
            </a:r>
            <a:r>
              <a:rPr lang="en-US" dirty="0" smtClean="0"/>
              <a:t>overview</a:t>
            </a:r>
          </a:p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Troubleshooting</a:t>
            </a:r>
          </a:p>
          <a:p>
            <a:r>
              <a:rPr lang="en-US" dirty="0"/>
              <a:t>Known limitation 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</a:p>
        </p:txBody>
      </p:sp>
    </p:spTree>
    <p:extLst>
      <p:ext uri="{BB962C8B-B14F-4D97-AF65-F5344CB8AC3E}">
        <p14:creationId xmlns:p14="http://schemas.microsoft.com/office/powerpoint/2010/main" val="406121688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Anti-Exploit </a:t>
            </a:r>
          </a:p>
          <a:p>
            <a:r>
              <a:rPr lang="en-US" dirty="0" smtClean="0"/>
              <a:t>Protection overview 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97272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2" name="Content Placeholder 7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An </a:t>
            </a:r>
            <a:r>
              <a:rPr lang="en-US" b="1" dirty="0"/>
              <a:t>exploit</a:t>
            </a:r>
            <a:r>
              <a:rPr lang="en-US" dirty="0"/>
              <a:t> is an attack that takes advantage of a particular vulnerability in a computing system.</a:t>
            </a:r>
          </a:p>
          <a:p>
            <a:r>
              <a:rPr lang="en-US" dirty="0" smtClean="0"/>
              <a:t>For exploit </a:t>
            </a:r>
            <a:r>
              <a:rPr lang="en-US" dirty="0"/>
              <a:t>to be effective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/>
              <a:t>Needs to identify a vulnerability in an application</a:t>
            </a:r>
          </a:p>
          <a:p>
            <a:pPr lvl="1"/>
            <a:r>
              <a:rPr lang="en-US" dirty="0"/>
              <a:t>Have access to that application</a:t>
            </a:r>
          </a:p>
          <a:p>
            <a:pPr lvl="2"/>
            <a:r>
              <a:rPr lang="en-US" dirty="0"/>
              <a:t>Browsers are a popular target</a:t>
            </a:r>
          </a:p>
          <a:p>
            <a:pPr lvl="2"/>
            <a:r>
              <a:rPr lang="en-US" dirty="0"/>
              <a:t>Quite often requires specific application </a:t>
            </a:r>
            <a:r>
              <a:rPr lang="en-US" dirty="0" smtClean="0"/>
              <a:t>versions</a:t>
            </a:r>
          </a:p>
        </p:txBody>
      </p:sp>
      <p:sp>
        <p:nvSpPr>
          <p:cNvPr id="71" name="Title 7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Exploit?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</a:p>
        </p:txBody>
      </p:sp>
    </p:spTree>
    <p:extLst>
      <p:ext uri="{BB962C8B-B14F-4D97-AF65-F5344CB8AC3E}">
        <p14:creationId xmlns:p14="http://schemas.microsoft.com/office/powerpoint/2010/main" val="175495785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83074" y="1161746"/>
            <a:ext cx="11000914" cy="4676140"/>
          </a:xfrm>
        </p:spPr>
        <p:txBody>
          <a:bodyPr/>
          <a:lstStyle/>
          <a:p>
            <a:r>
              <a:rPr lang="en-US" dirty="0"/>
              <a:t>Browser Plugin Exploits</a:t>
            </a:r>
          </a:p>
          <a:p>
            <a:pPr lvl="1"/>
            <a:r>
              <a:rPr lang="en-US" dirty="0"/>
              <a:t>Flash Exploits</a:t>
            </a:r>
          </a:p>
          <a:p>
            <a:pPr lvl="1"/>
            <a:r>
              <a:rPr lang="en-US" dirty="0"/>
              <a:t>Java Exploits</a:t>
            </a:r>
          </a:p>
          <a:p>
            <a:pPr lvl="1"/>
            <a:r>
              <a:rPr lang="en-US" dirty="0"/>
              <a:t>Silverlight Exploits</a:t>
            </a:r>
          </a:p>
          <a:p>
            <a:r>
              <a:rPr lang="en-US" dirty="0"/>
              <a:t>Browser Application Exploits</a:t>
            </a:r>
          </a:p>
          <a:p>
            <a:pPr lvl="1"/>
            <a:r>
              <a:rPr lang="en-US" dirty="0" smtClean="0"/>
              <a:t>Chrome, </a:t>
            </a:r>
            <a:r>
              <a:rPr lang="en-US" dirty="0"/>
              <a:t>Internet Explorer &amp; Edge Exploits</a:t>
            </a:r>
          </a:p>
          <a:p>
            <a:pPr lvl="1"/>
            <a:r>
              <a:rPr lang="en-US" dirty="0"/>
              <a:t>Mozilla Firefox Exploits (Next Version)</a:t>
            </a:r>
          </a:p>
          <a:p>
            <a:r>
              <a:rPr lang="en-US" dirty="0" smtClean="0"/>
              <a:t>Office\Adobe </a:t>
            </a:r>
            <a:r>
              <a:rPr lang="en-US" dirty="0"/>
              <a:t>Exploits</a:t>
            </a:r>
          </a:p>
          <a:p>
            <a:pPr lvl="1"/>
            <a:r>
              <a:rPr lang="en-US" dirty="0"/>
              <a:t>Microsoft Office Exploits</a:t>
            </a:r>
          </a:p>
          <a:p>
            <a:pPr lvl="1"/>
            <a:r>
              <a:rPr lang="en-US" dirty="0"/>
              <a:t>Adobe Acrobat / PDF </a:t>
            </a:r>
            <a:r>
              <a:rPr lang="en-US" dirty="0" smtClean="0"/>
              <a:t>Exploits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common type of exploits	</a:t>
            </a:r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5998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May not require user interaction or less user interaction</a:t>
            </a:r>
          </a:p>
          <a:p>
            <a:pPr lvl="1"/>
            <a:r>
              <a:rPr lang="en-US" dirty="0"/>
              <a:t>Mail and browser downloads require tricking the user to run the malware.</a:t>
            </a:r>
          </a:p>
          <a:p>
            <a:pPr lvl="1"/>
            <a:r>
              <a:rPr lang="en-US" dirty="0"/>
              <a:t>Documents with macros still require the user to turn off macro protection</a:t>
            </a:r>
          </a:p>
          <a:p>
            <a:r>
              <a:rPr lang="en-US" dirty="0"/>
              <a:t>Drive by downloads don’t even require a user to go to a malicious site!</a:t>
            </a:r>
          </a:p>
          <a:p>
            <a:pPr lvl="1"/>
            <a:r>
              <a:rPr lang="en-US" dirty="0"/>
              <a:t>It may be just a malicious ad that the site does not know of</a:t>
            </a:r>
          </a:p>
          <a:p>
            <a:pPr lvl="1"/>
            <a:r>
              <a:rPr lang="en-US" dirty="0"/>
              <a:t>Or a legitimate site that was temporarily hijacked.</a:t>
            </a:r>
          </a:p>
          <a:p>
            <a:r>
              <a:rPr lang="en-US" dirty="0"/>
              <a:t>The best exploit writers are able to download and execute an attack.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attackers use exploits?</a:t>
            </a:r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5472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08584" y="605185"/>
            <a:ext cx="11651532" cy="526377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first real forensics report ever was a Drive By!</a:t>
            </a:r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6966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IAT/EAT protection</a:t>
            </a:r>
          </a:p>
          <a:p>
            <a:pPr lvl="1"/>
            <a:r>
              <a:rPr lang="en-US" dirty="0"/>
              <a:t>In order to bypass (Address Space Layout Randomization) ASLR, the running shellcode is parsing the Import/Export tables of loaded DLLs to get required function pointers.</a:t>
            </a:r>
          </a:p>
          <a:p>
            <a:pPr lvl="1"/>
            <a:r>
              <a:rPr lang="en-US" dirty="0"/>
              <a:t>SBA Anti-exploit will detect and block the attempt to access these tables in memory.</a:t>
            </a:r>
          </a:p>
          <a:p>
            <a:r>
              <a:rPr lang="en-US" dirty="0"/>
              <a:t>ROP protection</a:t>
            </a:r>
          </a:p>
          <a:p>
            <a:pPr lvl="1"/>
            <a:r>
              <a:rPr lang="en-US" dirty="0"/>
              <a:t>In order to bypass DEP (Data Execution Prevention), exploits are using ROP technique. </a:t>
            </a:r>
          </a:p>
          <a:p>
            <a:pPr lvl="1"/>
            <a:r>
              <a:rPr lang="en-US" dirty="0"/>
              <a:t>SBA Anti-Exploit will detect and block calls to Windows APIs used in a ROP chain.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SBA Anti-Exploit Technologies </a:t>
            </a:r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3920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Use Process Explorer(Part of Microsoft </a:t>
            </a:r>
            <a:r>
              <a:rPr lang="en-US" dirty="0" err="1" smtClean="0"/>
              <a:t>SysInternals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 smtClean="0"/>
              <a:t>Go </a:t>
            </a:r>
            <a:r>
              <a:rPr lang="en-US" dirty="0"/>
              <a:t>to a process protected by Anti-Exploit</a:t>
            </a:r>
            <a:br>
              <a:rPr lang="en-US" dirty="0"/>
            </a:br>
            <a:r>
              <a:rPr lang="en-US" dirty="0"/>
              <a:t>protection groups.</a:t>
            </a:r>
          </a:p>
          <a:p>
            <a:pPr lvl="1"/>
            <a:r>
              <a:rPr lang="en-US" dirty="0"/>
              <a:t>Go to View &gt; Lower pane view &gt; DLLs. </a:t>
            </a:r>
          </a:p>
          <a:p>
            <a:pPr lvl="1"/>
            <a:r>
              <a:rPr lang="en-US" dirty="0"/>
              <a:t>Make sure that antex_dll.dll </a:t>
            </a:r>
            <a:br>
              <a:rPr lang="en-US" dirty="0"/>
            </a:br>
            <a:r>
              <a:rPr lang="en-US" dirty="0"/>
              <a:t>and antex_iswwh.dll are </a:t>
            </a:r>
            <a:r>
              <a:rPr lang="en-US" dirty="0" smtClean="0"/>
              <a:t>loaded in</a:t>
            </a:r>
          </a:p>
          <a:p>
            <a:pPr marL="347472" lvl="1" indent="0">
              <a:buNone/>
            </a:pPr>
            <a:r>
              <a:rPr lang="en-US" dirty="0" smtClean="0"/>
              <a:t>   The protected process.</a:t>
            </a:r>
          </a:p>
          <a:p>
            <a:pPr marL="347472" lvl="1" indent="0">
              <a:buNone/>
            </a:pPr>
            <a:r>
              <a:rPr lang="en-US" dirty="0"/>
              <a:t> </a:t>
            </a:r>
            <a:r>
              <a:rPr lang="en-US" dirty="0" smtClean="0"/>
              <a:t>  List of all protect application can be found in</a:t>
            </a:r>
          </a:p>
          <a:p>
            <a:pPr marL="347472" lvl="1" indent="0">
              <a:buNone/>
            </a:pPr>
            <a:r>
              <a:rPr lang="en-US" dirty="0"/>
              <a:t> </a:t>
            </a:r>
            <a:r>
              <a:rPr lang="en-US" dirty="0" smtClean="0"/>
              <a:t>  the policy file.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Checking if the Anti-Exploit protect specific application</a:t>
            </a:r>
            <a:endParaRPr lang="en-US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61A9BF5-566F-48BD-B7A8-72001203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88" y="1867217"/>
            <a:ext cx="44958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6632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 smtClean="0"/>
              <a:t>Anti-Exploit test tool can create two types of exploit in a destination process: </a:t>
            </a:r>
          </a:p>
          <a:p>
            <a:pPr lvl="1"/>
            <a:r>
              <a:rPr lang="en-US" dirty="0" smtClean="0"/>
              <a:t>IAT\EAT</a:t>
            </a:r>
          </a:p>
          <a:p>
            <a:pPr lvl="1"/>
            <a:r>
              <a:rPr lang="en-US" dirty="0" smtClean="0"/>
              <a:t>ROP</a:t>
            </a:r>
          </a:p>
          <a:p>
            <a:r>
              <a:rPr lang="en-US" dirty="0" smtClean="0"/>
              <a:t>To create exploit on 64 bit process you will need to use 64 bit Anti-Exploit test tool, the same is correct for 32 bit process</a:t>
            </a:r>
          </a:p>
          <a:p>
            <a:r>
              <a:rPr lang="en-US" dirty="0" smtClean="0"/>
              <a:t>To create the exploit you will need to lunch a command that specify the exploit type and the distention process(PID) 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Trigger Anti-Exploit by Anti-Exploit test tool </a:t>
            </a:r>
            <a:endParaRPr lang="en-US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0495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Anti-Exploit Management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03310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583074" y="1727381"/>
            <a:ext cx="11000914" cy="4676140"/>
          </a:xfrm>
        </p:spPr>
        <p:txBody>
          <a:bodyPr>
            <a:normAutofit/>
          </a:bodyPr>
          <a:lstStyle/>
          <a:p>
            <a:r>
              <a:rPr lang="en-US" dirty="0" smtClean="0"/>
              <a:t>GUIDBEDIT </a:t>
            </a:r>
            <a:r>
              <a:rPr lang="en-US" dirty="0"/>
              <a:t>Management </a:t>
            </a:r>
            <a:r>
              <a:rPr lang="en-US" dirty="0" smtClean="0"/>
              <a:t>Support</a:t>
            </a:r>
            <a:endParaRPr lang="en-US" dirty="0"/>
          </a:p>
          <a:p>
            <a:pPr lvl="2"/>
            <a:r>
              <a:rPr lang="en-US" dirty="0" smtClean="0"/>
              <a:t>On/Off – GUIDBEDIT(Default is On)</a:t>
            </a:r>
          </a:p>
          <a:p>
            <a:pPr lvl="2"/>
            <a:endParaRPr lang="en-US" dirty="0"/>
          </a:p>
          <a:p>
            <a:r>
              <a:rPr lang="en-US" dirty="0" smtClean="0"/>
              <a:t>Local policy file </a:t>
            </a:r>
            <a:r>
              <a:rPr lang="en-US" dirty="0"/>
              <a:t>controlled by </a:t>
            </a:r>
            <a:r>
              <a:rPr lang="en-US" dirty="0" smtClean="0"/>
              <a:t>deployment tool(GPO, SCCM ….)</a:t>
            </a:r>
          </a:p>
          <a:p>
            <a:pPr lvl="2"/>
            <a:r>
              <a:rPr lang="en-US" dirty="0" smtClean="0"/>
              <a:t>Silent/Detect/Prevent mode(Default is silent)</a:t>
            </a:r>
          </a:p>
          <a:p>
            <a:pPr lvl="2"/>
            <a:r>
              <a:rPr lang="en-US" dirty="0" smtClean="0"/>
              <a:t>Inclusions </a:t>
            </a:r>
            <a:r>
              <a:rPr lang="en-US" dirty="0"/>
              <a:t>of applications being protected</a:t>
            </a:r>
          </a:p>
          <a:p>
            <a:pPr lvl="2"/>
            <a:r>
              <a:rPr lang="en-US" dirty="0" smtClean="0"/>
              <a:t>Add </a:t>
            </a:r>
            <a:r>
              <a:rPr lang="en-US" dirty="0"/>
              <a:t>ability to ignore </a:t>
            </a:r>
            <a:r>
              <a:rPr lang="en-US" dirty="0" err="1"/>
              <a:t>dll</a:t>
            </a:r>
            <a:r>
              <a:rPr lang="en-US" dirty="0"/>
              <a:t> detections (False Positive reductions)</a:t>
            </a:r>
          </a:p>
          <a:p>
            <a:pPr lvl="2"/>
            <a:r>
              <a:rPr lang="en-US" dirty="0"/>
              <a:t>Exclude specific modules (False Positive reductions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Exclude protection type(ROP,IAT\EAT)</a:t>
            </a:r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Anti-Exploit Management – Gallium (E80.71) – </a:t>
            </a:r>
            <a:r>
              <a:rPr lang="en-US" dirty="0" smtClean="0"/>
              <a:t>Dec. </a:t>
            </a:r>
            <a:r>
              <a:rPr lang="en-US" dirty="0"/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285149855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EP management UI</a:t>
            </a:r>
          </a:p>
          <a:p>
            <a:pPr lvl="1"/>
            <a:r>
              <a:rPr lang="en-US" dirty="0" smtClean="0"/>
              <a:t>Off/Silent/Detect/Prevent</a:t>
            </a:r>
          </a:p>
          <a:p>
            <a:pPr lvl="1"/>
            <a:r>
              <a:rPr lang="en-US" dirty="0" smtClean="0"/>
              <a:t>Inclusions </a:t>
            </a:r>
            <a:r>
              <a:rPr lang="en-US" dirty="0"/>
              <a:t>of applications being protected</a:t>
            </a:r>
          </a:p>
          <a:p>
            <a:pPr lvl="1"/>
            <a:r>
              <a:rPr lang="en-US" dirty="0" smtClean="0"/>
              <a:t>Add </a:t>
            </a:r>
            <a:r>
              <a:rPr lang="en-US" dirty="0"/>
              <a:t>ability to ignore </a:t>
            </a:r>
            <a:r>
              <a:rPr lang="en-US" dirty="0" err="1"/>
              <a:t>dll</a:t>
            </a:r>
            <a:r>
              <a:rPr lang="en-US" dirty="0"/>
              <a:t> detections (False Positive reductions)</a:t>
            </a:r>
          </a:p>
          <a:p>
            <a:pPr marL="347472" lvl="1" indent="0">
              <a:buNone/>
            </a:pPr>
            <a:endParaRPr lang="en-US" dirty="0" smtClean="0"/>
          </a:p>
          <a:p>
            <a:pPr marL="347472" lvl="1" indent="0">
              <a:buNone/>
            </a:pPr>
            <a:r>
              <a:rPr lang="en-US" dirty="0"/>
              <a:t>GUIDBEDIT Management </a:t>
            </a:r>
            <a:r>
              <a:rPr lang="en-US" dirty="0" smtClean="0"/>
              <a:t>Support</a:t>
            </a:r>
          </a:p>
          <a:p>
            <a:pPr lvl="1"/>
            <a:r>
              <a:rPr lang="en-US" dirty="0" smtClean="0"/>
              <a:t>Ignore </a:t>
            </a:r>
            <a:r>
              <a:rPr lang="en-US" dirty="0"/>
              <a:t>protection type(ROP,IAT\EAT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Exclude specific modules</a:t>
            </a:r>
            <a:r>
              <a:rPr lang="en-US" dirty="0"/>
              <a:t>(False Positive reductions</a:t>
            </a:r>
            <a:r>
              <a:rPr lang="en-US" dirty="0" smtClean="0"/>
              <a:t>)</a:t>
            </a:r>
          </a:p>
          <a:p>
            <a:pPr marL="347472" lvl="1" indent="0">
              <a:buNone/>
            </a:pPr>
            <a:endParaRPr lang="en-US" dirty="0"/>
          </a:p>
          <a:p>
            <a:pPr marL="347472" lvl="1" indent="0">
              <a:buNone/>
            </a:pPr>
            <a:endParaRPr lang="en-US" dirty="0" smtClean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Anti-Exploit Management – Iridium – </a:t>
            </a:r>
            <a:r>
              <a:rPr lang="en-US" dirty="0" smtClean="0"/>
              <a:t>Q1/2018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11691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Once </a:t>
            </a:r>
            <a:r>
              <a:rPr lang="en-US" dirty="0"/>
              <a:t>the server is upgraded to Iridium</a:t>
            </a:r>
          </a:p>
          <a:p>
            <a:pPr lvl="1"/>
            <a:r>
              <a:rPr lang="en-US" dirty="0"/>
              <a:t>All Gallium clients will receive the server policy file</a:t>
            </a:r>
          </a:p>
          <a:p>
            <a:pPr lvl="1"/>
            <a:r>
              <a:rPr lang="en-US" dirty="0"/>
              <a:t>Existing local management files will no longer be used</a:t>
            </a:r>
          </a:p>
          <a:p>
            <a:pPr lvl="1"/>
            <a:r>
              <a:rPr lang="en-US" dirty="0"/>
              <a:t>Will not have to update/upgrade Gallium clients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Anti-Exploit Management – Iridium – </a:t>
            </a:r>
            <a:r>
              <a:rPr lang="en-US" dirty="0" smtClean="0"/>
              <a:t>Q1/2018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13548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Troubleshooting</a:t>
            </a: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5700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en-US" dirty="0" smtClean="0"/>
              <a:t>Collect CPINFO log</a:t>
            </a:r>
          </a:p>
          <a:p>
            <a:pPr lvl="2"/>
            <a:r>
              <a:rPr lang="en-US" dirty="0" smtClean="0"/>
              <a:t>Under End Point Security Client UI </a:t>
            </a:r>
          </a:p>
          <a:p>
            <a:pPr lvl="1"/>
            <a:r>
              <a:rPr lang="en-US" dirty="0" smtClean="0"/>
              <a:t>Create Process Dump file for the process from the Task Manager </a:t>
            </a:r>
          </a:p>
          <a:p>
            <a:pPr lvl="1"/>
            <a:r>
              <a:rPr lang="en-US" dirty="0" smtClean="0"/>
              <a:t>Upload both to FTP server</a:t>
            </a:r>
          </a:p>
          <a:p>
            <a:pPr lvl="1"/>
            <a:r>
              <a:rPr lang="en-US" dirty="0" smtClean="0"/>
              <a:t>Notify us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</a:t>
            </a:r>
            <a:r>
              <a:rPr lang="en-US" dirty="0"/>
              <a:t>CPU utilization by a protected application</a:t>
            </a:r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5731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 hidden="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en-US" dirty="0" smtClean="0"/>
              <a:t>Send us the following info for investigation</a:t>
            </a:r>
          </a:p>
          <a:p>
            <a:pPr lvl="2"/>
            <a:r>
              <a:rPr lang="en-US" dirty="0" smtClean="0"/>
              <a:t>Send </a:t>
            </a:r>
            <a:r>
              <a:rPr lang="en-US" dirty="0"/>
              <a:t>SBA generated dumps/reports via Endpoint Forensics CLI Tool – cpefrcli.exe</a:t>
            </a:r>
          </a:p>
          <a:p>
            <a:pPr lvl="3"/>
            <a:r>
              <a:rPr lang="en-US" dirty="0"/>
              <a:t>Dumps are located in C:\Windows\Temp\Antex\Dumps</a:t>
            </a:r>
            <a:endParaRPr lang="en-US" b="1" dirty="0"/>
          </a:p>
          <a:p>
            <a:pPr lvl="3"/>
            <a:r>
              <a:rPr lang="en-US" dirty="0"/>
              <a:t>Reports are located in C:\</a:t>
            </a:r>
            <a:r>
              <a:rPr lang="en-US" dirty="0" smtClean="0"/>
              <a:t>ProgramData\CheckPoint\DBStore\Events</a:t>
            </a:r>
          </a:p>
          <a:p>
            <a:pPr lvl="3"/>
            <a:r>
              <a:rPr lang="en-US" dirty="0" smtClean="0"/>
              <a:t>Collect </a:t>
            </a:r>
            <a:r>
              <a:rPr lang="en-US" dirty="0" err="1" smtClean="0"/>
              <a:t>CpInfo</a:t>
            </a:r>
            <a:r>
              <a:rPr lang="en-US" dirty="0" smtClean="0"/>
              <a:t> after step 1 and 2.</a:t>
            </a:r>
          </a:p>
          <a:p>
            <a:pPr marL="941832" lvl="3" indent="0">
              <a:buNone/>
            </a:pPr>
            <a:endParaRPr lang="en-US" b="1" dirty="0"/>
          </a:p>
          <a:p>
            <a:pPr lvl="1"/>
            <a:r>
              <a:rPr lang="en-US" dirty="0" smtClean="0"/>
              <a:t>Resolve the issue on the customer environment</a:t>
            </a:r>
            <a:endParaRPr lang="en-US" dirty="0"/>
          </a:p>
          <a:p>
            <a:pPr lvl="2"/>
            <a:r>
              <a:rPr lang="en-US" dirty="0" smtClean="0"/>
              <a:t>Creating </a:t>
            </a:r>
            <a:r>
              <a:rPr lang="en-US" dirty="0"/>
              <a:t>separate protection group for particular application</a:t>
            </a:r>
          </a:p>
          <a:p>
            <a:pPr lvl="3"/>
            <a:r>
              <a:rPr lang="en-US" dirty="0"/>
              <a:t>Add parameters to ignore malicious behavior from the loaded DLLs </a:t>
            </a:r>
          </a:p>
          <a:p>
            <a:pPr lvl="3"/>
            <a:r>
              <a:rPr lang="en-US" dirty="0"/>
              <a:t>Change particular protection mode for the </a:t>
            </a:r>
            <a:r>
              <a:rPr lang="en-US" dirty="0" smtClean="0"/>
              <a:t>application</a:t>
            </a:r>
          </a:p>
          <a:p>
            <a:pPr lvl="2"/>
            <a:r>
              <a:rPr lang="en-US" dirty="0" smtClean="0"/>
              <a:t>In case the issue reproduced after step 1, </a:t>
            </a:r>
            <a:r>
              <a:rPr lang="en-US" dirty="0"/>
              <a:t>r</a:t>
            </a:r>
            <a:r>
              <a:rPr lang="en-US" dirty="0" smtClean="0"/>
              <a:t>emove </a:t>
            </a:r>
            <a:r>
              <a:rPr lang="en-US" dirty="0"/>
              <a:t>applications from </a:t>
            </a:r>
            <a:r>
              <a:rPr lang="en-US" dirty="0" smtClean="0"/>
              <a:t>the local policy file </a:t>
            </a:r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sz="34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False </a:t>
            </a:r>
            <a:r>
              <a:rPr lang="en-US" sz="3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positive </a:t>
            </a:r>
            <a:r>
              <a:rPr lang="en-US" sz="34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detection </a:t>
            </a:r>
            <a:endParaRPr lang="en-US" sz="34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219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Anti-Exploit </a:t>
            </a:r>
            <a:endParaRPr lang="en-US" dirty="0" smtClean="0"/>
          </a:p>
          <a:p>
            <a:r>
              <a:rPr lang="en-US" dirty="0" smtClean="0"/>
              <a:t>KNOWN LIMITATION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4438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2687D063-1B57-41AA-901B-EEDFBDA66C0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/>
            <a:r>
              <a:rPr lang="en-US" dirty="0"/>
              <a:t>Anti-Exploit protection is not compatible with any other Anti-Exploit protection solution. </a:t>
            </a:r>
          </a:p>
          <a:p>
            <a:pPr lvl="1"/>
            <a:r>
              <a:rPr lang="en-US" dirty="0"/>
              <a:t>Anti-Exploit policy will be enforced after you restart the target application. </a:t>
            </a:r>
          </a:p>
          <a:p>
            <a:pPr lvl="1"/>
            <a:r>
              <a:rPr lang="en-US" dirty="0"/>
              <a:t>Anti-Exploit protection was verified only for applications listed in the policy file</a:t>
            </a:r>
          </a:p>
          <a:p>
            <a:pPr lvl="1"/>
            <a:r>
              <a:rPr lang="en-US" dirty="0"/>
              <a:t>Anti-Exploit protection is not supported for processes with enabled Control Flow Guard (Anti-Exploit protection will be automatically disabled). </a:t>
            </a:r>
          </a:p>
          <a:p>
            <a:pPr lvl="1"/>
            <a:r>
              <a:rPr lang="en-US" dirty="0"/>
              <a:t>Firefox 32bit browser is not protected against Return-oriented programming (ROP)</a:t>
            </a:r>
          </a:p>
          <a:p>
            <a:pPr lvl="1"/>
            <a:r>
              <a:rPr lang="en-US" dirty="0"/>
              <a:t>Anti-Exploit </a:t>
            </a:r>
            <a:r>
              <a:rPr lang="en-US" dirty="0" smtClean="0"/>
              <a:t> Does </a:t>
            </a:r>
            <a:r>
              <a:rPr lang="en-US" dirty="0"/>
              <a:t>not detect or protect against ROP exploits on Office applications if Check Point Capsule Docs is installed.</a:t>
            </a:r>
          </a:p>
          <a:p>
            <a:pPr lvl="1"/>
            <a:r>
              <a:rPr lang="en-US" dirty="0"/>
              <a:t>Windows 8.1 and Windows Server 2012 R2 are not supported in current release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BB49269E-5A80-4E66-B892-8459233DD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Limitations</a:t>
            </a:r>
          </a:p>
        </p:txBody>
      </p:sp>
    </p:spTree>
    <p:extLst>
      <p:ext uri="{BB962C8B-B14F-4D97-AF65-F5344CB8AC3E}">
        <p14:creationId xmlns:p14="http://schemas.microsoft.com/office/powerpoint/2010/main" val="385364826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</a:p>
        </p:txBody>
      </p:sp>
    </p:spTree>
    <p:extLst>
      <p:ext uri="{BB962C8B-B14F-4D97-AF65-F5344CB8AC3E}">
        <p14:creationId xmlns:p14="http://schemas.microsoft.com/office/powerpoint/2010/main" val="339013724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 hidden="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THANK </a:t>
            </a:r>
            <a:r>
              <a:rPr lang="en-US" dirty="0"/>
              <a:t>YOU</a:t>
            </a:r>
          </a:p>
          <a:p>
            <a:endParaRPr lang="en-US" dirty="0"/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 [Internal Use] for Check Point employees​</a:t>
            </a:r>
          </a:p>
        </p:txBody>
      </p:sp>
    </p:spTree>
    <p:extLst>
      <p:ext uri="{BB962C8B-B14F-4D97-AF65-F5344CB8AC3E}">
        <p14:creationId xmlns:p14="http://schemas.microsoft.com/office/powerpoint/2010/main" val="380916755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ank">
  <a:themeElements>
    <a:clrScheme name="Check Point 2016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E45785"/>
      </a:accent1>
      <a:accent2>
        <a:srgbClr val="72183E"/>
      </a:accent2>
      <a:accent3>
        <a:srgbClr val="A7A9AC"/>
      </a:accent3>
      <a:accent4>
        <a:srgbClr val="202121"/>
      </a:accent4>
      <a:accent5>
        <a:srgbClr val="DCDBDC"/>
      </a:accent5>
      <a:accent6>
        <a:srgbClr val="6D6E71"/>
      </a:accent6>
      <a:hlink>
        <a:srgbClr val="293896"/>
      </a:hlink>
      <a:folHlink>
        <a:srgbClr val="592351"/>
      </a:folHlink>
    </a:clrScheme>
    <a:fontScheme name="Check Point 201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  <a:ex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  <a:ex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CP_CorpTemp.potx [Read-Only]" id="{43D189A2-C0A6-407C-9277-9E8DAE5E5762}" vid="{B1CEEB9B-B3C6-4FEF-9621-FEFDB6A59081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</TotalTime>
  <Words>726</Words>
  <Application>Microsoft Office PowerPoint</Application>
  <PresentationFormat>Custom</PresentationFormat>
  <Paragraphs>137</Paragraphs>
  <Slides>21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blank</vt:lpstr>
      <vt:lpstr>PowerPoint Presentation</vt:lpstr>
      <vt:lpstr>Agenda</vt:lpstr>
      <vt:lpstr>PowerPoint Presentation</vt:lpstr>
      <vt:lpstr>What is an Exploit?</vt:lpstr>
      <vt:lpstr>Most common type of exploits </vt:lpstr>
      <vt:lpstr>Why do attackers use exploits?</vt:lpstr>
      <vt:lpstr>Our first real forensics report ever was a Drive By!</vt:lpstr>
      <vt:lpstr>SBA Anti-Exploit Technologies </vt:lpstr>
      <vt:lpstr>Checking if the Anti-Exploit protect specific application</vt:lpstr>
      <vt:lpstr>Trigger Anti-Exploit by Anti-Exploit test tool </vt:lpstr>
      <vt:lpstr>PowerPoint Presentation</vt:lpstr>
      <vt:lpstr>Anti-Exploit Management – Gallium (E80.71) – Dec. 2017</vt:lpstr>
      <vt:lpstr>Anti-Exploit Management – Iridium – Q1/2018</vt:lpstr>
      <vt:lpstr>Anti-Exploit Management – Iridium – Q1/2018</vt:lpstr>
      <vt:lpstr>PowerPoint Presentation</vt:lpstr>
      <vt:lpstr>High CPU utilization by a protected application</vt:lpstr>
      <vt:lpstr>False positive detection </vt:lpstr>
      <vt:lpstr>PowerPoint Presentation</vt:lpstr>
      <vt:lpstr>Known Limitations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Tom Kendrick</cp:lastModifiedBy>
  <cp:revision>103</cp:revision>
  <cp:lastPrinted>2013-06-12T23:53:29Z</cp:lastPrinted>
  <dcterms:created xsi:type="dcterms:W3CDTF">2017-10-18T06:39:20Z</dcterms:created>
  <dcterms:modified xsi:type="dcterms:W3CDTF">2017-12-05T16:18:05Z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>Xn1xLyMoIHRLbpYweH1xM2BqXnAmIDFaeWN5i1lCenBEeich</vt:lpwstr>
  </property>
  <property fmtid="{D5CDD505-2E9C-101B-9397-08002B2CF9AE}" pid="14" name="DomainID">
    <vt:lpwstr>XX90eXZ5dXRLZ0Bif311YmRpXnh1dWRaeWR4X1tEeHVDeHV1</vt:lpwstr>
  </property>
  <property fmtid="{D5CDD505-2E9C-101B-9397-08002B2CF9AE}" pid="15" name="HText">
    <vt:lpwstr>NoYqPSM7KyWKdyUhKo1lNDsrU4stIDecaYQnhoWAaCCeOCkqLYyBgA==</vt:lpwstr>
  </property>
  <property fmtid="{D5CDD505-2E9C-101B-9397-08002B2CF9AE}" pid="16" name="FText">
    <vt:lpwstr>NoYqPSM7KyWKdyUhKo1lNDsrU4stIDecaYQnhoWAaCCeOCkqLYyBgA==</vt:lpwstr>
  </property>
  <property fmtid="{D5CDD505-2E9C-101B-9397-08002B2CF9AE}" pid="17" name="WMark">
    <vt:lpwstr>JSYjISowZZaDJIQgJjMxNzA=</vt:lpwstr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1</vt:i4>
  </property>
  <property fmtid="{D5CDD505-2E9C-101B-9397-08002B2CF9AE}" pid="65" name="lqmsess">
    <vt:lpwstr>1effb433-6946-4635-9a8a-162d3b96d087</vt:lpwstr>
  </property>
</Properties>
</file>